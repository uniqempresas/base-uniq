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  <p:embeddedFontLst>
    <p:embeddedFont>
      <p:font typeface="Poppins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1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band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pic>
        <p:nvPicPr>
          <p:cNvPr id="3" name="melissa"/>
          <p:cNvPicPr/>
          <p:nvPr/>
        </p:nvPicPr>
        <p:blipFill>
          <a:blip r:embed="rId2"/>
          <a:srcRect l="15000" r="15000"/>
          <a:stretch>
            <a:fillRect/>
          </a:stretch>
        </p:blipFill>
        <p:spPr>
          <a:xfrm>
            <a:off x="7620000" y="1143000"/>
            <a:ext cx="4572000" cy="5715000"/>
          </a:xfrm>
          <a:prstGeom prst="rect">
            <a:avLst/>
          </a:prstGeom>
          <a:ln>
            <a:noFill/>
          </a:ln>
        </p:spPr>
      </p:pic>
      <p:pic>
        <p:nvPicPr>
          <p:cNvPr id="4" name="logo"/>
          <p:cNvPicPr/>
          <p:nvPr/>
        </p:nvPicPr>
        <p:blipFill>
          <a:blip r:embed="rId3"/>
          <a:srcRect l="-154" r="-154"/>
          <a:stretch>
            <a:fillRect/>
          </a:stretch>
        </p:blipFill>
        <p:spPr>
          <a:xfrm>
            <a:off x="1016000" y="889000"/>
            <a:ext cx="3810000" cy="1371600"/>
          </a:xfrm>
          <a:prstGeom prst="rect">
            <a:avLst/>
          </a:prstGeom>
          <a:ln>
            <a:noFill/>
          </a:ln>
        </p:spPr>
      </p:pic>
      <p:sp>
        <p:nvSpPr>
          <p:cNvPr id="5" name="kicker"/>
          <p:cNvSpPr txBox="1"/>
          <p:nvPr/>
        </p:nvSpPr>
        <p:spPr>
          <a:xfrm>
            <a:off x="1016000" y="2921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spc="600" kern="0">
                <a:solidFill>
                  <a:srgbClr val="3E5653"/>
                </a:solidFill>
                <a:latin typeface="Poppins"/>
                <a:ea typeface="Poppins"/>
              </a:rPr>
              <a:t>ALTO TIETÊ · CONSULTORIA</a:t>
            </a:r>
            <a:endParaRPr lang="en-US" sz="1400" noProof="1"/>
          </a:p>
        </p:txBody>
      </p:sp>
      <p:sp>
        <p:nvSpPr>
          <p:cNvPr id="6" name="title"/>
          <p:cNvSpPr txBox="1"/>
          <p:nvPr/>
        </p:nvSpPr>
        <p:spPr>
          <a:xfrm>
            <a:off x="965200" y="3276600"/>
            <a:ext cx="6477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4000" noProof="1" b="1">
                <a:solidFill>
                  <a:srgbClr val="1F2937"/>
                </a:solidFill>
                <a:latin typeface="Poppins"/>
                <a:ea typeface="Poppins"/>
              </a:rPr>
              <a:t>Sua empresa merece as mesmas ferramentas das grandes.</a:t>
            </a:r>
            <a:endParaRPr lang="en-US" sz="40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eyJ2aWV3Qm94IjpbMTIwLDNdLCJwb2ludHMiOiIwLDEgMTIwLDEifQ</pptd:line>
              </p:ext>
            </p:extLst>
          </p:nvPr>
        </p:nvSpPr>
        <p:spPr>
          <a:xfrm>
            <a:off x="1016000" y="53340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20" h="3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86CB92"/>
            </a:solidFill>
            <a:round/>
          </a:ln>
        </p:spPr>
      </p:sp>
      <p:sp>
        <p:nvSpPr>
          <p:cNvPr id="8" name="subtitle"/>
          <p:cNvSpPr txBox="1"/>
          <p:nvPr/>
        </p:nvSpPr>
        <p:spPr>
          <a:xfrm>
            <a:off x="1016000" y="56261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700" noProof="1">
                <a:solidFill>
                  <a:srgbClr val="627271"/>
                </a:solidFill>
                <a:latin typeface="Poppins"/>
                <a:ea typeface="Poppins"/>
              </a:rPr>
              <a:t>Consultoria para pequenas e médias empresas — faturamento, margem e transformação do empreendedor.</a:t>
            </a:r>
            <a:endParaRPr lang="en-US" sz="17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86CB92"/>
                </a:solidFill>
                <a:latin typeface="Poppins"/>
                <a:ea typeface="Poppins"/>
              </a:rPr>
              <a:t>VOCÊ RECONHECE ESSE DIA?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2065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3400" noProof="1" b="1">
                <a:solidFill>
                  <a:srgbClr val="EFEFEF"/>
                </a:solidFill>
                <a:latin typeface="Poppins"/>
                <a:ea typeface="Poppins"/>
              </a:rPr>
              <a:t>O dia inteiro apagando incêndio.</a:t>
            </a:r>
            <a:endParaRPr lang="en-US" sz="3400" noProof="1"/>
          </a:p>
          <a:p>
            <a:pPr>
              <a:lnSpc>
                <a:spcPct val="130000"/>
              </a:lnSpc>
            </a:pPr>
            <a:r>
              <a:rPr lang="en-US" sz="3400" noProof="1" b="1">
                <a:solidFill>
                  <a:srgbClr val="EFEFEF"/>
                </a:solidFill>
                <a:latin typeface="Poppins"/>
                <a:ea typeface="Poppins"/>
              </a:rPr>
              <a:t>E o negócio sem sair do lugar.</a:t>
            </a:r>
            <a:endParaRPr lang="en-US" sz="3400" noProof="1"/>
          </a:p>
        </p:txBody>
      </p:sp>
      <p:sp>
        <p:nvSpPr>
          <p:cNvPr id="4" name="item1"/>
          <p:cNvSpPr txBox="1"/>
          <p:nvPr/>
        </p:nvSpPr>
        <p:spPr>
          <a:xfrm>
            <a:off x="1016000" y="2984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86CB92"/>
                </a:solidFill>
                <a:latin typeface="Poppins"/>
                <a:ea typeface="Poppins"/>
              </a:rPr>
              <a:t>—</a:t>
            </a: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 Atendimento, operação, fornecedor, caixa: tudo passa por você</a:t>
            </a:r>
            <a:endParaRPr lang="en-US" sz="1600" noProof="1"/>
          </a:p>
        </p:txBody>
      </p:sp>
      <p:sp>
        <p:nvSpPr>
          <p:cNvPr id="5" name="item2"/>
          <p:cNvSpPr txBox="1"/>
          <p:nvPr/>
        </p:nvSpPr>
        <p:spPr>
          <a:xfrm>
            <a:off x="1016000" y="3810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86CB92"/>
                </a:solidFill>
                <a:latin typeface="Poppins"/>
                <a:ea typeface="Poppins"/>
              </a:rPr>
              <a:t>—</a:t>
            </a: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 Não sobra tempo para estudar o mercado ou planejar o crescimento</a:t>
            </a:r>
            <a:endParaRPr lang="en-US" sz="1600" noProof="1"/>
          </a:p>
        </p:txBody>
      </p:sp>
      <p:sp>
        <p:nvSpPr>
          <p:cNvPr id="6" name="item3"/>
          <p:cNvSpPr txBox="1"/>
          <p:nvPr/>
        </p:nvSpPr>
        <p:spPr>
          <a:xfrm>
            <a:off x="1016000" y="4635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86CB92"/>
                </a:solidFill>
                <a:latin typeface="Poppins"/>
                <a:ea typeface="Poppins"/>
              </a:rPr>
              <a:t>—</a:t>
            </a: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 E não sobra caixa para contratar quem tenha esse conhecimento</a:t>
            </a:r>
            <a:endParaRPr lang="en-US" sz="1600" noProof="1"/>
          </a:p>
        </p:txBody>
      </p:sp>
      <p:sp>
        <p:nvSpPr>
          <p:cNvPr id="7" name="punch"/>
          <p:cNvSpPr txBox="1"/>
          <p:nvPr/>
        </p:nvSpPr>
        <p:spPr>
          <a:xfrm>
            <a:off x="6731000" y="2984500"/>
            <a:ext cx="4445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2200" noProof="1" b="1">
                <a:solidFill>
                  <a:srgbClr val="EFEFEF"/>
                </a:solidFill>
                <a:latin typeface="Poppins"/>
                <a:ea typeface="Poppins"/>
              </a:rPr>
              <a:t>Não falta força de vontade.</a:t>
            </a:r>
            <a:endParaRPr lang="en-US" sz="2200" noProof="1"/>
          </a:p>
          <a:p>
            <a:pPr>
              <a:lnSpc>
                <a:spcPct val="145000"/>
              </a:lnSpc>
            </a:pPr>
            <a:r>
              <a:rPr lang="en-US" sz="2200" noProof="1" b="1">
                <a:solidFill>
                  <a:srgbClr val="EFEFEF"/>
                </a:solidFill>
                <a:latin typeface="Poppins"/>
                <a:ea typeface="Poppins"/>
              </a:rPr>
              <a:t>Não falta qualidade.</a:t>
            </a:r>
            <a:endParaRPr lang="en-US" sz="220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2200" noProof="1" b="1">
                <a:solidFill>
                  <a:srgbClr val="86CB92"/>
                </a:solidFill>
                <a:latin typeface="Poppins"/>
                <a:ea typeface="Poppins"/>
              </a:rPr>
              <a:t>Faltam ferramentas e conhecimento.</a:t>
            </a:r>
            <a:endParaRPr lang="en-US" sz="2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O CUSTO DE CONTINUAR ASSIM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1684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Trabalhar mais não resolve</a:t>
            </a:r>
            <a:endParaRPr lang="en-US" sz="3800" noProof="1"/>
          </a:p>
        </p:txBody>
      </p:sp>
      <p:sp>
        <p:nvSpPr>
          <p:cNvPr id="4" name="big1"/>
          <p:cNvSpPr txBox="1"/>
          <p:nvPr/>
        </p:nvSpPr>
        <p:spPr>
          <a:xfrm>
            <a:off x="1016000" y="2413000"/>
            <a:ext cx="3302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4400" noProof="1">
                <a:solidFill>
                  <a:srgbClr val="3E5653"/>
                </a:solidFill>
                <a:latin typeface="Poppins"/>
                <a:ea typeface="Poppins"/>
              </a:rPr>
              <a:t>Vender</a:t>
            </a:r>
            <a:endParaRPr lang="en-US" sz="17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sem saber a margem real de cada produto pode significar </a:t>
            </a:r>
            <a:r>
              <a:rPr lang="en-US" sz="1700" noProof="1" b="1">
                <a:solidFill>
                  <a:srgbClr val="1A1A1A"/>
                </a:solidFill>
                <a:latin typeface="Poppins"/>
                <a:ea typeface="Poppins"/>
              </a:rPr>
              <a:t>lucrar menos vendendo mais</a:t>
            </a: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.</a:t>
            </a:r>
            <a:endParaRPr lang="en-US" sz="1700" noProof="1"/>
          </a:p>
        </p:txBody>
      </p:sp>
      <p:sp>
        <p:nvSpPr>
          <p:cNvPr id="5" name="sep1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4572000" y="2540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6" name="big2"/>
          <p:cNvSpPr txBox="1"/>
          <p:nvPr/>
        </p:nvSpPr>
        <p:spPr>
          <a:xfrm>
            <a:off x="4953000" y="2413000"/>
            <a:ext cx="3302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4400" noProof="1">
                <a:solidFill>
                  <a:srgbClr val="3E5653"/>
                </a:solidFill>
                <a:latin typeface="Poppins"/>
                <a:ea typeface="Poppins"/>
              </a:rPr>
              <a:t>Decidir</a:t>
            </a:r>
            <a:endParaRPr lang="en-US" sz="17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sem dados de mercado transforma cada escolha em </a:t>
            </a:r>
            <a:r>
              <a:rPr lang="en-US" sz="1700" noProof="1" b="1">
                <a:solidFill>
                  <a:srgbClr val="1A1A1A"/>
                </a:solidFill>
                <a:latin typeface="Poppins"/>
                <a:ea typeface="Poppins"/>
              </a:rPr>
              <a:t>aposta</a:t>
            </a: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 — preço, estoque, investimento.</a:t>
            </a:r>
            <a:endParaRPr lang="en-US" sz="1700" noProof="1"/>
          </a:p>
        </p:txBody>
      </p:sp>
      <p:sp>
        <p:nvSpPr>
          <p:cNvPr id="7" name="sep2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8509000" y="2540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8" name="big3"/>
          <p:cNvSpPr txBox="1"/>
          <p:nvPr/>
        </p:nvSpPr>
        <p:spPr>
          <a:xfrm>
            <a:off x="8890000" y="2413000"/>
            <a:ext cx="279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4400" noProof="1">
                <a:solidFill>
                  <a:srgbClr val="3E5653"/>
                </a:solidFill>
                <a:latin typeface="Poppins"/>
                <a:ea typeface="Poppins"/>
              </a:rPr>
              <a:t>Crescer</a:t>
            </a:r>
            <a:endParaRPr lang="en-US" sz="17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preso à operação mantém o dono como </a:t>
            </a:r>
            <a:r>
              <a:rPr lang="en-US" sz="1700" noProof="1" b="1">
                <a:solidFill>
                  <a:srgbClr val="1A1A1A"/>
                </a:solidFill>
                <a:latin typeface="Poppins"/>
                <a:ea typeface="Poppins"/>
              </a:rPr>
              <a:t>funcionário do próprio negócio</a:t>
            </a:r>
            <a:r>
              <a:rPr lang="en-US" sz="1700" noProof="1">
                <a:solidFill>
                  <a:srgbClr val="1A1A1A"/>
                </a:solidFill>
                <a:latin typeface="Poppins"/>
                <a:ea typeface="Poppins"/>
              </a:rPr>
              <a:t>.</a:t>
            </a:r>
            <a:endParaRPr lang="en-US" sz="1700" noProof="1"/>
          </a:p>
        </p:txBody>
      </p:sp>
      <p:sp>
        <p:nvSpPr>
          <p:cNvPr id="9" name="punch"/>
          <p:cNvSpPr txBox="1"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3E5653"/>
                </a:solidFill>
                <a:latin typeface="Poppins"/>
                <a:ea typeface="Poppins"/>
              </a:rPr>
              <a:t>O problema não é esforço. É a falta de estrutura para crescer.</a:t>
            </a:r>
            <a:endParaRPr lang="en-US" sz="1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POR QUE A UNIQ EXISTE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1684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Eu vi os dois lados desse jogo</a:t>
            </a:r>
            <a:endParaRPr lang="en-US" sz="3800" noProof="1"/>
          </a:p>
        </p:txBody>
      </p:sp>
      <p:sp>
        <p:nvSpPr>
          <p:cNvPr id="4" name="side1"/>
          <p:cNvSpPr txBox="1"/>
          <p:nvPr/>
        </p:nvSpPr>
        <p:spPr>
          <a:xfrm>
            <a:off x="1016000" y="2349500"/>
            <a:ext cx="5080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600" noProof="1" b="1">
                <a:solidFill>
                  <a:srgbClr val="3E5653"/>
                </a:solidFill>
                <a:latin typeface="Poppins"/>
                <a:ea typeface="Poppins"/>
              </a:rPr>
              <a:t>Nas grandes empresas</a:t>
            </a:r>
            <a:endParaRPr lang="en-US" sz="1600" noProof="1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Analista de sistemas desde 2011, em empresas como </a:t>
            </a: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Banco Santander</a:t>
            </a: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Ultragaz</a:t>
            </a: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, em contato com a alta diretoria.</a:t>
            </a:r>
            <a:endParaRPr lang="en-US" sz="1600" noProof="1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Lá ficou claro o quanto </a:t>
            </a: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conhecimento de mercado, estratégia e boas ferramentas</a:t>
            </a: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 fazem diferença no resultado.</a:t>
            </a:r>
            <a:endParaRPr lang="en-US" sz="1600" noProof="1"/>
          </a:p>
        </p:txBody>
      </p:sp>
      <p:sp>
        <p:nvSpPr>
          <p:cNvPr id="5" name="sep"/>
          <p:cNvSpPr/>
          <p:nvPr>
            <p:extLst>
              <p:ext uri="{F5677B7D-0D2A-4D9B-9A5C-6D8D7D0E5A5D}">
                <pptd:line encoding="base64url">eyJ2aWV3Qm94IjpbMSwyNjBdLCJwb2ludHMiOiIwLDAgMCwyNjAifQ</pptd:line>
              </p:ext>
            </p:extLst>
          </p:nvPr>
        </p:nvSpPr>
        <p:spPr>
          <a:xfrm>
            <a:off x="6477000" y="24765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0" y="0"/>
                </a:moveTo>
                <a:lnTo>
                  <a:pt x="0" y="26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6" name="side2"/>
          <p:cNvSpPr txBox="1"/>
          <p:nvPr/>
        </p:nvSpPr>
        <p:spPr>
          <a:xfrm>
            <a:off x="6858000" y="2349500"/>
            <a:ext cx="4318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600" noProof="1" b="1">
                <a:solidFill>
                  <a:srgbClr val="3E5653"/>
                </a:solidFill>
                <a:latin typeface="Poppins"/>
                <a:ea typeface="Poppins"/>
              </a:rPr>
              <a:t>Na minha gráfica B2B</a:t>
            </a:r>
            <a:endParaRPr lang="en-US" sz="1600" noProof="1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Atendendo pequenos e médios empreendedores, vi o contraponto: gente talentosa e esforçada, </a:t>
            </a: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sem acesso às mesmas ferramentas e ao mesmo conhecimento</a:t>
            </a: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.</a:t>
            </a:r>
            <a:endParaRPr lang="en-US" sz="1600" noProof="1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1A1A1A"/>
                </a:solidFill>
                <a:latin typeface="Poppins"/>
                <a:ea typeface="Poppins"/>
              </a:rPr>
              <a:t>Foi dessa diferença que nasceu a UNIQ.</a:t>
            </a:r>
            <a:endParaRPr lang="en-US" sz="1600" noProof="1"/>
          </a:p>
        </p:txBody>
      </p:sp>
      <p:sp>
        <p:nvSpPr>
          <p:cNvPr id="7" name="punch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3E5653"/>
                </a:solidFill>
                <a:latin typeface="Poppins"/>
                <a:ea typeface="Poppins"/>
              </a:rPr>
              <a:t>Levar para o pequeno o que a grande empresa já usa para vencer.</a:t>
            </a:r>
            <a:endParaRPr lang="en-US" sz="17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11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A UNIQ EMPRESAS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0414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3 objetivos claros, um só parceiro</a:t>
            </a:r>
            <a:endParaRPr lang="en-US" sz="3800" noProof="1"/>
          </a:p>
        </p:txBody>
      </p:sp>
      <p:sp>
        <p:nvSpPr>
          <p:cNvPr id="4" name="intro"/>
          <p:cNvSpPr txBox="1"/>
          <p:nvPr/>
        </p:nvSpPr>
        <p:spPr>
          <a:xfrm>
            <a:off x="1016000" y="19050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627271"/>
                </a:solidFill>
                <a:latin typeface="Poppins"/>
                <a:ea typeface="Poppins"/>
              </a:rPr>
              <a:t>A UNIQ atua no Alto Tietê com consultoria para pequenas e médias empresas. Não somos uma empresa de tecnologia — usamos a tecnologia a favor do objetivo.</a:t>
            </a:r>
            <a:endParaRPr lang="en-US" sz="1500" noProof="1"/>
          </a:p>
        </p:txBody>
      </p:sp>
      <p:sp>
        <p:nvSpPr>
          <p:cNvPr id="5" name="n1"/>
          <p:cNvSpPr txBox="1"/>
          <p:nvPr/>
        </p:nvSpPr>
        <p:spPr>
          <a:xfrm>
            <a:off x="1016000" y="2730500"/>
            <a:ext cx="114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86CB92"/>
                </a:solidFill>
                <a:latin typeface="Poppins"/>
                <a:ea typeface="Poppins"/>
              </a:rPr>
              <a:t>01</a:t>
            </a:r>
            <a:endParaRPr lang="en-US" sz="5200" noProof="1"/>
          </a:p>
        </p:txBody>
      </p:sp>
      <p:sp>
        <p:nvSpPr>
          <p:cNvPr id="6" name="t1"/>
          <p:cNvSpPr txBox="1"/>
          <p:nvPr/>
        </p:nvSpPr>
        <p:spPr>
          <a:xfrm>
            <a:off x="1016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3E5653"/>
                </a:solidFill>
                <a:latin typeface="Poppins"/>
                <a:ea typeface="Poppins"/>
              </a:rPr>
              <a:t>Aumento de Faturamento</a:t>
            </a:r>
            <a:endParaRPr lang="en-US" sz="1800" noProof="1"/>
          </a:p>
        </p:txBody>
      </p:sp>
      <p:sp>
        <p:nvSpPr>
          <p:cNvPr id="7" name="d1"/>
          <p:cNvSpPr txBox="1"/>
          <p:nvPr/>
        </p:nvSpPr>
        <p:spPr>
          <a:xfrm>
            <a:off x="1016000" y="44704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Sua empresa vendendo todos os dias — inclusive quando você não está lá.</a:t>
            </a:r>
            <a:endParaRPr lang="en-US" sz="1400" noProof="1"/>
          </a:p>
        </p:txBody>
      </p:sp>
      <p:sp>
        <p:nvSpPr>
          <p:cNvPr id="8" name="line1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4445000" y="2794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9" name="n2"/>
          <p:cNvSpPr txBox="1"/>
          <p:nvPr/>
        </p:nvSpPr>
        <p:spPr>
          <a:xfrm>
            <a:off x="4826000" y="2730500"/>
            <a:ext cx="114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86CB92"/>
                </a:solidFill>
                <a:latin typeface="Poppins"/>
                <a:ea typeface="Poppins"/>
              </a:rPr>
              <a:t>02</a:t>
            </a:r>
            <a:endParaRPr lang="en-US" sz="5200" noProof="1"/>
          </a:p>
        </p:txBody>
      </p:sp>
      <p:sp>
        <p:nvSpPr>
          <p:cNvPr id="10" name="t2"/>
          <p:cNvSpPr txBox="1"/>
          <p:nvPr/>
        </p:nvSpPr>
        <p:spPr>
          <a:xfrm>
            <a:off x="4826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3E5653"/>
                </a:solidFill>
                <a:latin typeface="Poppins"/>
                <a:ea typeface="Poppins"/>
              </a:rPr>
              <a:t>Aumento de Margem</a:t>
            </a:r>
            <a:endParaRPr lang="en-US" sz="1800" noProof="1"/>
          </a:p>
        </p:txBody>
      </p:sp>
      <p:sp>
        <p:nvSpPr>
          <p:cNvPr id="11" name="d2"/>
          <p:cNvSpPr txBox="1"/>
          <p:nvPr/>
        </p:nvSpPr>
        <p:spPr>
          <a:xfrm>
            <a:off x="4826000" y="44704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Lucrar mais em cada venda, sabendo exatamente onde está o dinheiro.</a:t>
            </a:r>
            <a:endParaRPr lang="en-US" sz="1400" noProof="1"/>
          </a:p>
        </p:txBody>
      </p:sp>
      <p:sp>
        <p:nvSpPr>
          <p:cNvPr id="12" name="line2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8255000" y="2794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13" name="n3"/>
          <p:cNvSpPr txBox="1"/>
          <p:nvPr/>
        </p:nvSpPr>
        <p:spPr>
          <a:xfrm>
            <a:off x="8636000" y="2730500"/>
            <a:ext cx="114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86CB92"/>
                </a:solidFill>
                <a:latin typeface="Poppins"/>
                <a:ea typeface="Poppins"/>
              </a:rPr>
              <a:t>03</a:t>
            </a:r>
            <a:endParaRPr lang="en-US" sz="5200" noProof="1"/>
          </a:p>
        </p:txBody>
      </p:sp>
      <p:sp>
        <p:nvSpPr>
          <p:cNvPr id="14" name="t3"/>
          <p:cNvSpPr txBox="1"/>
          <p:nvPr/>
        </p:nvSpPr>
        <p:spPr>
          <a:xfrm>
            <a:off x="8636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3E5653"/>
                </a:solidFill>
                <a:latin typeface="Poppins"/>
                <a:ea typeface="Poppins"/>
              </a:rPr>
              <a:t>Transformação do Empreendedor</a:t>
            </a:r>
            <a:endParaRPr lang="en-US" sz="1800" noProof="1"/>
          </a:p>
        </p:txBody>
      </p:sp>
      <p:sp>
        <p:nvSpPr>
          <p:cNvPr id="15" name="d3"/>
          <p:cNvSpPr txBox="1"/>
          <p:nvPr/>
        </p:nvSpPr>
        <p:spPr>
          <a:xfrm>
            <a:off x="8636000" y="44704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De dono atolado na operação a empresário que decide com clareza.</a:t>
            </a:r>
            <a:endParaRPr lang="en-US" sz="1400" noProof="1"/>
          </a:p>
        </p:txBody>
      </p:sp>
      <p:sp>
        <p:nvSpPr>
          <p:cNvPr id="16" name="footer"/>
          <p:cNvSpPr txBox="1"/>
          <p:nvPr/>
        </p:nvSpPr>
        <p:spPr>
          <a:xfrm>
            <a:off x="1016000" y="6096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27271"/>
                </a:solidFill>
                <a:latin typeface="Poppins"/>
                <a:ea typeface="Poppins"/>
              </a:rPr>
              <a:t>Consultoria + tecnologia a serviço do objetivo — nunca o contrário.</a:t>
            </a: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8128000" y="508000"/>
            <a:ext cx="3556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0" noProof="1" b="1">
                <a:solidFill>
                  <a:srgbClr val="3E5653">
                    <a:alpha val="7843"/>
                  </a:srgbClr>
                </a:solidFill>
                <a:latin typeface="Poppins"/>
                <a:ea typeface="Poppins"/>
              </a:rPr>
              <a:t>01</a:t>
            </a:r>
            <a:endParaRPr lang="en-US" sz="13000" noProof="1"/>
          </a:p>
        </p:txBody>
      </p:sp>
      <p:sp>
        <p:nvSpPr>
          <p:cNvPr id="3" name="kicker"/>
          <p:cNvSpPr txBox="1"/>
          <p:nvPr/>
        </p:nvSpPr>
        <p:spPr>
          <a:xfrm>
            <a:off x="1016000" y="711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OBJETIVO 1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965200" y="10414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Aumento de Faturamento</a:t>
            </a:r>
            <a:endParaRPr lang="en-US" sz="3800" noProof="1"/>
          </a:p>
        </p:txBody>
      </p:sp>
      <p:sp>
        <p:nvSpPr>
          <p:cNvPr id="5" name="lead"/>
          <p:cNvSpPr txBox="1"/>
          <p:nvPr/>
        </p:nvSpPr>
        <p:spPr>
          <a:xfrm>
            <a:off x="1016000" y="18796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900" noProof="1" b="1">
                <a:solidFill>
                  <a:srgbClr val="3E5653"/>
                </a:solidFill>
                <a:latin typeface="Poppins"/>
                <a:ea typeface="Poppins"/>
              </a:rPr>
              <a:t>Sua empresa vendendo todos os dias — inclusive quando você não está lá.</a:t>
            </a:r>
            <a:endParaRPr lang="en-US" sz="1900" noProof="1"/>
          </a:p>
        </p:txBody>
      </p:sp>
      <p:sp>
        <p:nvSpPr>
          <p:cNvPr id="6" name="i1icon"/>
          <p:cNvSpPr/>
          <p:nvPr>
            <p:extLst>
              <p:ext uri="{F5677B7D-0D2A-4D9B-9A5C-6D8D7D0E5A5D}">
                <pptd:icon encoding="base64url">eyJpY29uTmFtZSI6ImZhczpjb21wYXNzIn0</pptd:icon>
              </p:ext>
            </p:extLst>
          </p:nvPr>
        </p:nvSpPr>
        <p:spPr>
          <a:xfrm>
            <a:off x="10160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07" y="325"/>
                </a:moveTo>
                <a:lnTo>
                  <a:pt x="162" y="381"/>
                </a:lnTo>
                <a:cubicBezTo>
                  <a:pt x="143" y="388"/>
                  <a:pt x="124" y="369"/>
                  <a:pt x="131" y="350"/>
                </a:cubicBezTo>
                <a:lnTo>
                  <a:pt x="187" y="205"/>
                </a:lnTo>
                <a:cubicBezTo>
                  <a:pt x="190" y="197"/>
                  <a:pt x="197" y="190"/>
                  <a:pt x="205" y="187"/>
                </a:cubicBezTo>
                <a:lnTo>
                  <a:pt x="350" y="131"/>
                </a:lnTo>
                <a:cubicBezTo>
                  <a:pt x="369" y="124"/>
                  <a:pt x="388" y="143"/>
                  <a:pt x="381" y="162"/>
                </a:cubicBezTo>
                <a:lnTo>
                  <a:pt x="325" y="307"/>
                </a:lnTo>
                <a:cubicBezTo>
                  <a:pt x="322" y="315"/>
                  <a:pt x="315" y="322"/>
                  <a:pt x="307" y="325"/>
                </a:cubicBezTo>
                <a:close/>
              </a:path>
              <a:path w="512" h="512">
                <a:moveTo>
                  <a:pt x="288" y="256"/>
                </a:moveTo>
                <a:cubicBezTo>
                  <a:pt x="288" y="238"/>
                  <a:pt x="274" y="224"/>
                  <a:pt x="256" y="224"/>
                </a:cubicBezTo>
                <a:cubicBezTo>
                  <a:pt x="238" y="224"/>
                  <a:pt x="224" y="238"/>
                  <a:pt x="224" y="256"/>
                </a:cubicBezTo>
                <a:cubicBezTo>
                  <a:pt x="224" y="274"/>
                  <a:pt x="238" y="288"/>
                  <a:pt x="256" y="288"/>
                </a:cubicBezTo>
                <a:cubicBezTo>
                  <a:pt x="274" y="288"/>
                  <a:pt x="288" y="274"/>
                  <a:pt x="288" y="256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7" name="i1"/>
          <p:cNvSpPr txBox="1"/>
          <p:nvPr/>
        </p:nvSpPr>
        <p:spPr>
          <a:xfrm>
            <a:off x="1549400" y="28194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UNIQ — Conhecimento de mercado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Trazer conhecimento externo e de mercado para dentro da sua operação.</a:t>
            </a:r>
            <a:endParaRPr lang="en-US" sz="1600" noProof="1"/>
          </a:p>
        </p:txBody>
      </p:sp>
      <p:sp>
        <p:nvSpPr>
          <p:cNvPr id="8" name="i2icon"/>
          <p:cNvSpPr/>
          <p:nvPr>
            <p:extLst>
              <p:ext uri="{F5677B7D-0D2A-4D9B-9A5C-6D8D7D0E5A5D}">
                <pptd:icon encoding="base64url">eyJpY29uTmFtZSI6ImZhczpoZWFkc2V0In0</pptd:icon>
              </p:ext>
            </p:extLst>
          </p:nvPr>
        </p:nvSpPr>
        <p:spPr>
          <a:xfrm>
            <a:off x="1016000" y="3873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9" name="i2"/>
          <p:cNvSpPr txBox="1"/>
          <p:nvPr/>
        </p:nvSpPr>
        <p:spPr>
          <a:xfrm>
            <a:off x="1549400" y="38354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Melissa — Atendimento que converte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Atendimento estruturado para transformar contato em venda.</a:t>
            </a:r>
            <a:endParaRPr lang="en-US" sz="1600" noProof="1"/>
          </a:p>
        </p:txBody>
      </p:sp>
      <p:sp>
        <p:nvSpPr>
          <p:cNvPr id="10" name="i3icon"/>
          <p:cNvSpPr/>
          <p:nvPr>
            <p:extLst>
              <p:ext uri="{F5677B7D-0D2A-4D9B-9A5C-6D8D7D0E5A5D}">
                <pptd:icon encoding="base64url">eyJpY29uTmFtZSI6ImZhczpmaWx0ZXIifQ</pptd:icon>
              </p:ext>
            </p:extLst>
          </p:nvPr>
        </p:nvSpPr>
        <p:spPr>
          <a:xfrm>
            <a:off x="1016000" y="4889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9" y="64"/>
                  <a:pt x="7" y="72"/>
                  <a:pt x="2" y="84"/>
                </a:cubicBezTo>
                <a:cubicBezTo>
                  <a:pt x="-3" y="96"/>
                  <a:pt x="0" y="110"/>
                  <a:pt x="9" y="119"/>
                </a:cubicBezTo>
                <a:lnTo>
                  <a:pt x="192" y="301"/>
                </a:lnTo>
                <a:lnTo>
                  <a:pt x="192" y="416"/>
                </a:lnTo>
                <a:cubicBezTo>
                  <a:pt x="192" y="425"/>
                  <a:pt x="195" y="433"/>
                  <a:pt x="201" y="439"/>
                </a:cubicBezTo>
                <a:lnTo>
                  <a:pt x="265" y="503"/>
                </a:lnTo>
                <a:cubicBezTo>
                  <a:pt x="275" y="512"/>
                  <a:pt x="288" y="515"/>
                  <a:pt x="300" y="510"/>
                </a:cubicBezTo>
                <a:cubicBezTo>
                  <a:pt x="312" y="505"/>
                  <a:pt x="320" y="493"/>
                  <a:pt x="320" y="480"/>
                </a:cubicBezTo>
                <a:lnTo>
                  <a:pt x="320" y="301"/>
                </a:lnTo>
                <a:lnTo>
                  <a:pt x="503" y="119"/>
                </a:lnTo>
                <a:cubicBezTo>
                  <a:pt x="512" y="110"/>
                  <a:pt x="515" y="96"/>
                  <a:pt x="510" y="84"/>
                </a:cubicBezTo>
                <a:cubicBezTo>
                  <a:pt x="505" y="72"/>
                  <a:pt x="493" y="64"/>
                  <a:pt x="480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11" name="i3"/>
          <p:cNvSpPr txBox="1"/>
          <p:nvPr/>
        </p:nvSpPr>
        <p:spPr>
          <a:xfrm>
            <a:off x="1549400" y="48514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Base UNIQ — Funil de Vendas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Pipeline claro, do primeiro contato ao fechamento.</a:t>
            </a:r>
            <a:endParaRPr lang="en-US" sz="1600" noProof="1"/>
          </a:p>
        </p:txBody>
      </p:sp>
      <p:sp>
        <p:nvSpPr>
          <p:cNvPr id="12" name="i4icon"/>
          <p:cNvSpPr/>
          <p:nvPr>
            <p:extLst>
              <p:ext uri="{F5677B7D-0D2A-4D9B-9A5C-6D8D7D0E5A5D}">
                <pptd:icon encoding="base64url">eyJpY29uTmFtZSI6ImZhczpzdG9yZSJ9</pptd:icon>
              </p:ext>
            </p:extLst>
          </p:nvPr>
        </p:nvSpPr>
        <p:spPr>
          <a:xfrm>
            <a:off x="1016000" y="5905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1" y="72"/>
                </a:moveTo>
                <a:cubicBezTo>
                  <a:pt x="38" y="48"/>
                  <a:pt x="60" y="32"/>
                  <a:pt x="84" y="32"/>
                </a:cubicBezTo>
                <a:lnTo>
                  <a:pt x="428" y="32"/>
                </a:lnTo>
                <a:cubicBezTo>
                  <a:pt x="453" y="32"/>
                  <a:pt x="475" y="48"/>
                  <a:pt x="482" y="72"/>
                </a:cubicBezTo>
                <a:lnTo>
                  <a:pt x="506" y="153"/>
                </a:lnTo>
                <a:cubicBezTo>
                  <a:pt x="518" y="196"/>
                  <a:pt x="485" y="240"/>
                  <a:pt x="440" y="240"/>
                </a:cubicBezTo>
                <a:cubicBezTo>
                  <a:pt x="414" y="240"/>
                  <a:pt x="391" y="225"/>
                  <a:pt x="379" y="203"/>
                </a:cubicBezTo>
                <a:cubicBezTo>
                  <a:pt x="368" y="225"/>
                  <a:pt x="345" y="240"/>
                  <a:pt x="318" y="240"/>
                </a:cubicBezTo>
                <a:cubicBezTo>
                  <a:pt x="291" y="240"/>
                  <a:pt x="268" y="225"/>
                  <a:pt x="257" y="203"/>
                </a:cubicBezTo>
                <a:cubicBezTo>
                  <a:pt x="245" y="225"/>
                  <a:pt x="222" y="240"/>
                  <a:pt x="195" y="240"/>
                </a:cubicBezTo>
                <a:cubicBezTo>
                  <a:pt x="168" y="240"/>
                  <a:pt x="145" y="225"/>
                  <a:pt x="134" y="203"/>
                </a:cubicBezTo>
                <a:cubicBezTo>
                  <a:pt x="122" y="225"/>
                  <a:pt x="99" y="240"/>
                  <a:pt x="73" y="240"/>
                </a:cubicBezTo>
                <a:cubicBezTo>
                  <a:pt x="27" y="240"/>
                  <a:pt x="-5" y="196"/>
                  <a:pt x="7" y="153"/>
                </a:cubicBezTo>
                <a:lnTo>
                  <a:pt x="31" y="72"/>
                </a:lnTo>
                <a:close/>
                <a:moveTo>
                  <a:pt x="96" y="352"/>
                </a:moveTo>
                <a:lnTo>
                  <a:pt x="416" y="352"/>
                </a:lnTo>
                <a:lnTo>
                  <a:pt x="416" y="286"/>
                </a:lnTo>
                <a:cubicBezTo>
                  <a:pt x="424" y="287"/>
                  <a:pt x="432" y="288"/>
                  <a:pt x="440" y="288"/>
                </a:cubicBezTo>
                <a:cubicBezTo>
                  <a:pt x="454" y="288"/>
                  <a:pt x="468" y="285"/>
                  <a:pt x="480" y="281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281"/>
                </a:lnTo>
                <a:cubicBezTo>
                  <a:pt x="45" y="285"/>
                  <a:pt x="58" y="288"/>
                  <a:pt x="73" y="288"/>
                </a:cubicBezTo>
                <a:cubicBezTo>
                  <a:pt x="81" y="288"/>
                  <a:pt x="89" y="287"/>
                  <a:pt x="96" y="286"/>
                </a:cubicBezTo>
                <a:lnTo>
                  <a:pt x="96" y="352"/>
                </a:ln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13" name="i4"/>
          <p:cNvSpPr txBox="1"/>
          <p:nvPr/>
        </p:nvSpPr>
        <p:spPr>
          <a:xfrm>
            <a:off x="1549400" y="58674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Base UNIQ — Loja Virtual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Um novo canal de receita, aberto todos os dias.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8128000" y="508000"/>
            <a:ext cx="3556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0" noProof="1" b="1">
                <a:solidFill>
                  <a:srgbClr val="3E5653">
                    <a:alpha val="7843"/>
                  </a:srgbClr>
                </a:solidFill>
                <a:latin typeface="Poppins"/>
                <a:ea typeface="Poppins"/>
              </a:rPr>
              <a:t>02</a:t>
            </a:r>
            <a:endParaRPr lang="en-US" sz="13000" noProof="1"/>
          </a:p>
        </p:txBody>
      </p:sp>
      <p:sp>
        <p:nvSpPr>
          <p:cNvPr id="3" name="kicker"/>
          <p:cNvSpPr txBox="1"/>
          <p:nvPr/>
        </p:nvSpPr>
        <p:spPr>
          <a:xfrm>
            <a:off x="1016000" y="711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OBJETIVO 2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965200" y="10414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Aumento de Margem</a:t>
            </a:r>
            <a:endParaRPr lang="en-US" sz="3800" noProof="1"/>
          </a:p>
        </p:txBody>
      </p:sp>
      <p:sp>
        <p:nvSpPr>
          <p:cNvPr id="5" name="lead"/>
          <p:cNvSpPr txBox="1"/>
          <p:nvPr/>
        </p:nvSpPr>
        <p:spPr>
          <a:xfrm>
            <a:off x="1016000" y="18796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900" noProof="1" b="1">
                <a:solidFill>
                  <a:srgbClr val="3E5653"/>
                </a:solidFill>
                <a:latin typeface="Poppins"/>
                <a:ea typeface="Poppins"/>
              </a:rPr>
              <a:t>Lucrar mais em cada venda, sabendo exatamente onde está o dinheiro.</a:t>
            </a:r>
            <a:endParaRPr lang="en-US" sz="1900" noProof="1"/>
          </a:p>
        </p:txBody>
      </p:sp>
      <p:sp>
        <p:nvSpPr>
          <p:cNvPr id="6" name="i1icon"/>
          <p:cNvSpPr/>
          <p:nvPr>
            <p:extLst>
              <p:ext uri="{F5677B7D-0D2A-4D9B-9A5C-6D8D7D0E5A5D}">
                <pptd:icon encoding="base64url">eyJpY29uTmFtZSI6ImZhczptYWduaWZ5aW5nLWdsYXNzLWNoYXJ0In0</pptd:icon>
              </p:ext>
            </p:extLst>
          </p:nvPr>
        </p:nvSpPr>
        <p:spPr>
          <a:xfrm>
            <a:off x="1016000" y="2984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104" y="216"/>
                </a:moveTo>
                <a:lnTo>
                  <a:pt x="104" y="280"/>
                </a:lnTo>
                <a:cubicBezTo>
                  <a:pt x="104" y="293"/>
                  <a:pt x="115" y="304"/>
                  <a:pt x="128" y="304"/>
                </a:cubicBezTo>
                <a:cubicBezTo>
                  <a:pt x="141" y="304"/>
                  <a:pt x="152" y="293"/>
                  <a:pt x="152" y="280"/>
                </a:cubicBezTo>
                <a:lnTo>
                  <a:pt x="152" y="216"/>
                </a:lnTo>
                <a:cubicBezTo>
                  <a:pt x="152" y="203"/>
                  <a:pt x="141" y="192"/>
                  <a:pt x="128" y="192"/>
                </a:cubicBezTo>
                <a:cubicBezTo>
                  <a:pt x="115" y="192"/>
                  <a:pt x="104" y="203"/>
                  <a:pt x="104" y="216"/>
                </a:cubicBezTo>
                <a:close/>
                <a:moveTo>
                  <a:pt x="184" y="120"/>
                </a:moveTo>
                <a:lnTo>
                  <a:pt x="184" y="280"/>
                </a:lnTo>
                <a:cubicBezTo>
                  <a:pt x="184" y="293"/>
                  <a:pt x="195" y="304"/>
                  <a:pt x="208" y="304"/>
                </a:cubicBezTo>
                <a:cubicBezTo>
                  <a:pt x="221" y="304"/>
                  <a:pt x="232" y="293"/>
                  <a:pt x="232" y="280"/>
                </a:cubicBezTo>
                <a:lnTo>
                  <a:pt x="232" y="120"/>
                </a:lnTo>
                <a:cubicBezTo>
                  <a:pt x="232" y="107"/>
                  <a:pt x="221" y="96"/>
                  <a:pt x="208" y="96"/>
                </a:cubicBezTo>
                <a:cubicBezTo>
                  <a:pt x="195" y="96"/>
                  <a:pt x="184" y="107"/>
                  <a:pt x="184" y="120"/>
                </a:cubicBezTo>
                <a:close/>
                <a:moveTo>
                  <a:pt x="264" y="184"/>
                </a:moveTo>
                <a:lnTo>
                  <a:pt x="264" y="280"/>
                </a:lnTo>
                <a:cubicBezTo>
                  <a:pt x="264" y="293"/>
                  <a:pt x="275" y="304"/>
                  <a:pt x="288" y="304"/>
                </a:cubicBezTo>
                <a:cubicBezTo>
                  <a:pt x="301" y="304"/>
                  <a:pt x="312" y="293"/>
                  <a:pt x="312" y="280"/>
                </a:cubicBezTo>
                <a:lnTo>
                  <a:pt x="312" y="184"/>
                </a:lnTo>
                <a:cubicBezTo>
                  <a:pt x="312" y="171"/>
                  <a:pt x="301" y="160"/>
                  <a:pt x="288" y="160"/>
                </a:cubicBezTo>
                <a:cubicBezTo>
                  <a:pt x="275" y="160"/>
                  <a:pt x="264" y="171"/>
                  <a:pt x="264" y="184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7" name="i1"/>
          <p:cNvSpPr txBox="1"/>
          <p:nvPr/>
        </p:nvSpPr>
        <p:spPr>
          <a:xfrm>
            <a:off x="1549400" y="29464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UNIQ — Análise profunda de mercado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Entender preço, concorrência e posicionamento para decidir com dados.</a:t>
            </a:r>
            <a:endParaRPr lang="en-US" sz="1600" noProof="1"/>
          </a:p>
        </p:txBody>
      </p:sp>
      <p:sp>
        <p:nvSpPr>
          <p:cNvPr id="8" name="i2icon"/>
          <p:cNvSpPr/>
          <p:nvPr>
            <p:extLst>
              <p:ext uri="{F5677B7D-0D2A-4D9B-9A5C-6D8D7D0E5A5D}">
                <pptd:icon encoding="base64url">eyJpY29uTmFtZSI6ImZhczpnYXVnZS1oaWdoIn0</pptd:icon>
              </p:ext>
            </p:extLst>
          </p:nvPr>
        </p:nvSpPr>
        <p:spPr>
          <a:xfrm>
            <a:off x="1016000" y="412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9" name="i2"/>
          <p:cNvSpPr txBox="1"/>
          <p:nvPr/>
        </p:nvSpPr>
        <p:spPr>
          <a:xfrm>
            <a:off x="1549400" y="40894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Base UNIQ — Visão total da operação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Custos, margens e processos enxergados de ponta a ponta.</a:t>
            </a:r>
            <a:endParaRPr lang="en-US" sz="1600" noProof="1"/>
          </a:p>
        </p:txBody>
      </p:sp>
      <p:sp>
        <p:nvSpPr>
          <p:cNvPr id="10" name="i3icon"/>
          <p:cNvSpPr/>
          <p:nvPr>
            <p:extLst>
              <p:ext uri="{F5677B7D-0D2A-4D9B-9A5C-6D8D7D0E5A5D}">
                <pptd:icon encoding="base64url">eyJpY29uTmFtZSI6ImZhczpoYW5kc2hha2UifQ</pptd:icon>
              </p:ext>
            </p:extLst>
          </p:nvPr>
        </p:nvSpPr>
        <p:spPr>
          <a:xfrm>
            <a:off x="1016000" y="527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9" y="85"/>
                </a:moveTo>
                <a:lnTo>
                  <a:pt x="152" y="215"/>
                </a:lnTo>
                <a:cubicBezTo>
                  <a:pt x="148" y="220"/>
                  <a:pt x="148" y="228"/>
                  <a:pt x="153" y="233"/>
                </a:cubicBezTo>
                <a:cubicBezTo>
                  <a:pt x="183" y="263"/>
                  <a:pt x="233" y="263"/>
                  <a:pt x="263" y="233"/>
                </a:cubicBezTo>
                <a:lnTo>
                  <a:pt x="295" y="201"/>
                </a:lnTo>
                <a:cubicBezTo>
                  <a:pt x="299" y="197"/>
                  <a:pt x="305" y="194"/>
                  <a:pt x="310" y="194"/>
                </a:cubicBezTo>
                <a:cubicBezTo>
                  <a:pt x="317" y="193"/>
                  <a:pt x="324" y="196"/>
                  <a:pt x="329" y="201"/>
                </a:cubicBezTo>
                <a:lnTo>
                  <a:pt x="506" y="376"/>
                </a:lnTo>
                <a:lnTo>
                  <a:pt x="576" y="320"/>
                </a:lnTo>
                <a:lnTo>
                  <a:pt x="576" y="32"/>
                </a:lnTo>
                <a:lnTo>
                  <a:pt x="464" y="96"/>
                </a:lnTo>
                <a:lnTo>
                  <a:pt x="440" y="80"/>
                </a:lnTo>
                <a:cubicBezTo>
                  <a:pt x="424" y="70"/>
                  <a:pt x="406" y="64"/>
                  <a:pt x="387" y="64"/>
                </a:cubicBezTo>
                <a:lnTo>
                  <a:pt x="317" y="64"/>
                </a:lnTo>
                <a:cubicBezTo>
                  <a:pt x="315" y="64"/>
                  <a:pt x="314" y="64"/>
                  <a:pt x="313" y="64"/>
                </a:cubicBezTo>
                <a:cubicBezTo>
                  <a:pt x="296" y="65"/>
                  <a:pt x="280" y="73"/>
                  <a:pt x="269" y="85"/>
                </a:cubicBezTo>
                <a:close/>
                <a:moveTo>
                  <a:pt x="117" y="183"/>
                </a:moveTo>
                <a:lnTo>
                  <a:pt x="223" y="64"/>
                </a:lnTo>
                <a:lnTo>
                  <a:pt x="184" y="64"/>
                </a:lnTo>
                <a:cubicBezTo>
                  <a:pt x="158" y="64"/>
                  <a:pt x="134" y="74"/>
                  <a:pt x="116" y="92"/>
                </a:cubicBezTo>
                <a:lnTo>
                  <a:pt x="112" y="96"/>
                </a:lnTo>
                <a:lnTo>
                  <a:pt x="0" y="32"/>
                </a:lnTo>
                <a:lnTo>
                  <a:pt x="0" y="320"/>
                </a:lnTo>
                <a:lnTo>
                  <a:pt x="156" y="450"/>
                </a:lnTo>
                <a:cubicBezTo>
                  <a:pt x="179" y="470"/>
                  <a:pt x="208" y="480"/>
                  <a:pt x="238" y="480"/>
                </a:cubicBezTo>
                <a:lnTo>
                  <a:pt x="254" y="480"/>
                </a:lnTo>
                <a:lnTo>
                  <a:pt x="247" y="473"/>
                </a:lnTo>
                <a:cubicBezTo>
                  <a:pt x="238" y="464"/>
                  <a:pt x="238" y="448"/>
                  <a:pt x="247" y="439"/>
                </a:cubicBezTo>
                <a:cubicBezTo>
                  <a:pt x="256" y="430"/>
                  <a:pt x="272" y="430"/>
                  <a:pt x="281" y="439"/>
                </a:cubicBezTo>
                <a:lnTo>
                  <a:pt x="322" y="480"/>
                </a:lnTo>
                <a:lnTo>
                  <a:pt x="331" y="480"/>
                </a:lnTo>
                <a:cubicBezTo>
                  <a:pt x="350" y="480"/>
                  <a:pt x="369" y="476"/>
                  <a:pt x="386" y="468"/>
                </a:cubicBezTo>
                <a:lnTo>
                  <a:pt x="359" y="441"/>
                </a:lnTo>
                <a:cubicBezTo>
                  <a:pt x="350" y="432"/>
                  <a:pt x="350" y="416"/>
                  <a:pt x="359" y="407"/>
                </a:cubicBezTo>
                <a:cubicBezTo>
                  <a:pt x="368" y="398"/>
                  <a:pt x="384" y="398"/>
                  <a:pt x="393" y="407"/>
                </a:cubicBezTo>
                <a:lnTo>
                  <a:pt x="425" y="439"/>
                </a:lnTo>
                <a:lnTo>
                  <a:pt x="442" y="422"/>
                </a:lnTo>
                <a:cubicBezTo>
                  <a:pt x="451" y="413"/>
                  <a:pt x="454" y="400"/>
                  <a:pt x="450" y="389"/>
                </a:cubicBezTo>
                <a:lnTo>
                  <a:pt x="312" y="252"/>
                </a:lnTo>
                <a:lnTo>
                  <a:pt x="297" y="267"/>
                </a:lnTo>
                <a:cubicBezTo>
                  <a:pt x="248" y="316"/>
                  <a:pt x="168" y="316"/>
                  <a:pt x="119" y="267"/>
                </a:cubicBezTo>
                <a:cubicBezTo>
                  <a:pt x="96" y="244"/>
                  <a:pt x="95" y="207"/>
                  <a:pt x="117" y="183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11" name="i3"/>
          <p:cNvSpPr txBox="1"/>
          <p:nvPr/>
        </p:nvSpPr>
        <p:spPr>
          <a:xfrm>
            <a:off x="1549400" y="52324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Base UNIQ — Parcerias com empreendedores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Rede de parceiros para dividir custos e multiplicar oportunidades.</a:t>
            </a:r>
            <a:endParaRPr lang="en-US" sz="16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8128000" y="508000"/>
            <a:ext cx="3556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0" noProof="1" b="1">
                <a:solidFill>
                  <a:srgbClr val="3E5653">
                    <a:alpha val="7843"/>
                  </a:srgbClr>
                </a:solidFill>
                <a:latin typeface="Poppins"/>
                <a:ea typeface="Poppins"/>
              </a:rPr>
              <a:t>03</a:t>
            </a:r>
            <a:endParaRPr lang="en-US" sz="13000" noProof="1"/>
          </a:p>
        </p:txBody>
      </p:sp>
      <p:sp>
        <p:nvSpPr>
          <p:cNvPr id="3" name="kicker"/>
          <p:cNvSpPr txBox="1"/>
          <p:nvPr/>
        </p:nvSpPr>
        <p:spPr>
          <a:xfrm>
            <a:off x="1016000" y="711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OBJETIVO 3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965200" y="1041400"/>
            <a:ext cx="736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3E5653"/>
                </a:solidFill>
                <a:latin typeface="Poppins"/>
                <a:ea typeface="Poppins"/>
              </a:rPr>
              <a:t>Transformação do Empreendedor</a:t>
            </a:r>
            <a:endParaRPr lang="en-US" sz="3400" noProof="1"/>
          </a:p>
        </p:txBody>
      </p:sp>
      <p:sp>
        <p:nvSpPr>
          <p:cNvPr id="5" name="lead"/>
          <p:cNvSpPr txBox="1"/>
          <p:nvPr/>
        </p:nvSpPr>
        <p:spPr>
          <a:xfrm>
            <a:off x="1016000" y="18796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900" noProof="1" b="1">
                <a:solidFill>
                  <a:srgbClr val="3E5653"/>
                </a:solidFill>
                <a:latin typeface="Poppins"/>
                <a:ea typeface="Poppins"/>
              </a:rPr>
              <a:t>De dono atolado na operação a empresário que decide com clareza.</a:t>
            </a:r>
            <a:endParaRPr lang="en-US" sz="1900" noProof="1"/>
          </a:p>
        </p:txBody>
      </p:sp>
      <p:sp>
        <p:nvSpPr>
          <p:cNvPr id="6" name="i1icon"/>
          <p:cNvSpPr/>
          <p:nvPr>
            <p:extLst>
              <p:ext uri="{F5677B7D-0D2A-4D9B-9A5C-6D8D7D0E5A5D}">
                <pptd:icon encoding="base64url">eyJpY29uTmFtZSI6ImZhczphcnJvd3MtbGVmdC1yaWdodC10by1saW5lIn0</pptd:icon>
              </p:ext>
            </p:extLst>
          </p:nvPr>
        </p:nvSpPr>
        <p:spPr>
          <a:xfrm>
            <a:off x="1016000" y="2984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2" y="96"/>
                </a:moveTo>
                <a:cubicBezTo>
                  <a:pt x="14" y="96"/>
                  <a:pt x="0" y="110"/>
                  <a:pt x="0" y="128"/>
                </a:cubicBezTo>
                <a:lnTo>
                  <a:pt x="0" y="384"/>
                </a:lnTo>
                <a:cubicBezTo>
                  <a:pt x="0" y="402"/>
                  <a:pt x="14" y="416"/>
                  <a:pt x="32" y="416"/>
                </a:cubicBezTo>
                <a:cubicBezTo>
                  <a:pt x="50" y="416"/>
                  <a:pt x="64" y="402"/>
                  <a:pt x="64" y="384"/>
                </a:cubicBezTo>
                <a:lnTo>
                  <a:pt x="64" y="128"/>
                </a:lnTo>
                <a:cubicBezTo>
                  <a:pt x="64" y="110"/>
                  <a:pt x="50" y="96"/>
                  <a:pt x="32" y="96"/>
                </a:cubicBezTo>
                <a:close/>
              </a:path>
              <a:path w="576" h="512">
                <a:moveTo>
                  <a:pt x="391" y="343"/>
                </a:moveTo>
                <a:lnTo>
                  <a:pt x="455" y="279"/>
                </a:lnTo>
                <a:cubicBezTo>
                  <a:pt x="467" y="266"/>
                  <a:pt x="467" y="246"/>
                  <a:pt x="455" y="233"/>
                </a:cubicBezTo>
                <a:lnTo>
                  <a:pt x="391" y="169"/>
                </a:lnTo>
                <a:cubicBezTo>
                  <a:pt x="378" y="157"/>
                  <a:pt x="358" y="157"/>
                  <a:pt x="345" y="169"/>
                </a:cubicBezTo>
                <a:cubicBezTo>
                  <a:pt x="333" y="182"/>
                  <a:pt x="333" y="202"/>
                  <a:pt x="345" y="215"/>
                </a:cubicBezTo>
                <a:lnTo>
                  <a:pt x="355" y="224"/>
                </a:lnTo>
                <a:lnTo>
                  <a:pt x="221" y="224"/>
                </a:lnTo>
                <a:lnTo>
                  <a:pt x="231" y="215"/>
                </a:lnTo>
                <a:cubicBezTo>
                  <a:pt x="243" y="202"/>
                  <a:pt x="243" y="182"/>
                  <a:pt x="231" y="169"/>
                </a:cubicBezTo>
                <a:cubicBezTo>
                  <a:pt x="218" y="157"/>
                  <a:pt x="198" y="157"/>
                  <a:pt x="185" y="169"/>
                </a:cubicBezTo>
                <a:lnTo>
                  <a:pt x="121" y="233"/>
                </a:lnTo>
                <a:cubicBezTo>
                  <a:pt x="115" y="239"/>
                  <a:pt x="112" y="247"/>
                  <a:pt x="112" y="256"/>
                </a:cubicBezTo>
                <a:cubicBezTo>
                  <a:pt x="112" y="264"/>
                  <a:pt x="115" y="273"/>
                  <a:pt x="121" y="279"/>
                </a:cubicBezTo>
                <a:lnTo>
                  <a:pt x="185" y="343"/>
                </a:lnTo>
                <a:cubicBezTo>
                  <a:pt x="198" y="355"/>
                  <a:pt x="218" y="355"/>
                  <a:pt x="231" y="343"/>
                </a:cubicBezTo>
                <a:cubicBezTo>
                  <a:pt x="243" y="330"/>
                  <a:pt x="243" y="310"/>
                  <a:pt x="231" y="297"/>
                </a:cubicBezTo>
                <a:lnTo>
                  <a:pt x="221" y="288"/>
                </a:lnTo>
                <a:lnTo>
                  <a:pt x="355" y="288"/>
                </a:lnTo>
                <a:lnTo>
                  <a:pt x="345" y="297"/>
                </a:lnTo>
                <a:cubicBezTo>
                  <a:pt x="333" y="310"/>
                  <a:pt x="333" y="330"/>
                  <a:pt x="345" y="343"/>
                </a:cubicBezTo>
                <a:cubicBezTo>
                  <a:pt x="358" y="355"/>
                  <a:pt x="378" y="355"/>
                  <a:pt x="391" y="343"/>
                </a:cubicBezTo>
                <a:close/>
              </a:path>
              <a:path w="576" h="512">
                <a:moveTo>
                  <a:pt x="576" y="128"/>
                </a:moveTo>
                <a:cubicBezTo>
                  <a:pt x="576" y="110"/>
                  <a:pt x="562" y="96"/>
                  <a:pt x="544" y="96"/>
                </a:cubicBezTo>
                <a:cubicBezTo>
                  <a:pt x="526" y="96"/>
                  <a:pt x="512" y="110"/>
                  <a:pt x="512" y="128"/>
                </a:cubicBezTo>
                <a:lnTo>
                  <a:pt x="512" y="384"/>
                </a:lnTo>
                <a:cubicBezTo>
                  <a:pt x="512" y="402"/>
                  <a:pt x="526" y="416"/>
                  <a:pt x="544" y="416"/>
                </a:cubicBezTo>
                <a:cubicBezTo>
                  <a:pt x="562" y="416"/>
                  <a:pt x="576" y="402"/>
                  <a:pt x="576" y="384"/>
                </a:cubicBezTo>
                <a:lnTo>
                  <a:pt x="576" y="128"/>
                </a:ln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7" name="i1"/>
          <p:cNvSpPr txBox="1"/>
          <p:nvPr/>
        </p:nvSpPr>
        <p:spPr>
          <a:xfrm>
            <a:off x="1549400" y="29464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UNIQ — Transformação duradoura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Levar o parceiro de um ponto a outro, com mudança que permanece.</a:t>
            </a:r>
            <a:endParaRPr lang="en-US" sz="1600" noProof="1"/>
          </a:p>
        </p:txBody>
      </p:sp>
      <p:sp>
        <p:nvSpPr>
          <p:cNvPr id="8" name="i2icon"/>
          <p:cNvSpPr/>
          <p:nvPr>
            <p:extLst>
              <p:ext uri="{F5677B7D-0D2A-4D9B-9A5C-6D8D7D0E5A5D}">
                <pptd:icon encoding="base64url">eyJpY29uTmFtZSI6ImZhczpxdW90ZS1sZWZ0In0</pptd:icon>
              </p:ext>
            </p:extLst>
          </p:nvPr>
        </p:nvSpPr>
        <p:spPr>
          <a:xfrm>
            <a:off x="1016000" y="412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216"/>
                </a:moveTo>
                <a:cubicBezTo>
                  <a:pt x="0" y="150"/>
                  <a:pt x="54" y="96"/>
                  <a:pt x="120" y="96"/>
                </a:cubicBezTo>
                <a:lnTo>
                  <a:pt x="128" y="96"/>
                </a:lnTo>
                <a:cubicBezTo>
                  <a:pt x="146" y="96"/>
                  <a:pt x="160" y="110"/>
                  <a:pt x="160" y="128"/>
                </a:cubicBezTo>
                <a:cubicBezTo>
                  <a:pt x="160" y="146"/>
                  <a:pt x="146" y="160"/>
                  <a:pt x="128" y="160"/>
                </a:cubicBezTo>
                <a:lnTo>
                  <a:pt x="120" y="160"/>
                </a:lnTo>
                <a:cubicBezTo>
                  <a:pt x="89" y="160"/>
                  <a:pt x="64" y="185"/>
                  <a:pt x="64" y="216"/>
                </a:cubicBezTo>
                <a:lnTo>
                  <a:pt x="64" y="224"/>
                </a:lnTo>
                <a:lnTo>
                  <a:pt x="128" y="224"/>
                </a:lnTo>
                <a:cubicBezTo>
                  <a:pt x="163" y="224"/>
                  <a:pt x="192" y="253"/>
                  <a:pt x="192" y="288"/>
                </a:cubicBezTo>
                <a:lnTo>
                  <a:pt x="192" y="352"/>
                </a:lnTo>
                <a:cubicBezTo>
                  <a:pt x="192" y="387"/>
                  <a:pt x="163" y="416"/>
                  <a:pt x="128" y="416"/>
                </a:cubicBezTo>
                <a:lnTo>
                  <a:pt x="64" y="416"/>
                </a:lnTo>
                <a:cubicBezTo>
                  <a:pt x="29" y="416"/>
                  <a:pt x="0" y="387"/>
                  <a:pt x="0" y="352"/>
                </a:cubicBezTo>
                <a:lnTo>
                  <a:pt x="0" y="216"/>
                </a:lnTo>
                <a:close/>
                <a:moveTo>
                  <a:pt x="256" y="216"/>
                </a:moveTo>
                <a:cubicBezTo>
                  <a:pt x="256" y="150"/>
                  <a:pt x="310" y="96"/>
                  <a:pt x="376" y="96"/>
                </a:cubicBezTo>
                <a:lnTo>
                  <a:pt x="384" y="96"/>
                </a:lnTo>
                <a:cubicBezTo>
                  <a:pt x="402" y="96"/>
                  <a:pt x="416" y="110"/>
                  <a:pt x="416" y="128"/>
                </a:cubicBezTo>
                <a:cubicBezTo>
                  <a:pt x="416" y="146"/>
                  <a:pt x="402" y="160"/>
                  <a:pt x="384" y="160"/>
                </a:cubicBezTo>
                <a:lnTo>
                  <a:pt x="376" y="160"/>
                </a:lnTo>
                <a:cubicBezTo>
                  <a:pt x="345" y="160"/>
                  <a:pt x="320" y="185"/>
                  <a:pt x="320" y="216"/>
                </a:cubicBezTo>
                <a:lnTo>
                  <a:pt x="320" y="224"/>
                </a:lnTo>
                <a:lnTo>
                  <a:pt x="384" y="224"/>
                </a:lnTo>
                <a:cubicBezTo>
                  <a:pt x="419" y="224"/>
                  <a:pt x="448" y="253"/>
                  <a:pt x="448" y="288"/>
                </a:cubicBezTo>
                <a:lnTo>
                  <a:pt x="448" y="352"/>
                </a:lnTo>
                <a:cubicBezTo>
                  <a:pt x="448" y="387"/>
                  <a:pt x="419" y="416"/>
                  <a:pt x="384" y="416"/>
                </a:cubicBezTo>
                <a:lnTo>
                  <a:pt x="320" y="416"/>
                </a:lnTo>
                <a:cubicBezTo>
                  <a:pt x="285" y="416"/>
                  <a:pt x="256" y="387"/>
                  <a:pt x="256" y="352"/>
                </a:cubicBezTo>
                <a:lnTo>
                  <a:pt x="256" y="216"/>
                </a:ln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9" name="i2"/>
          <p:cNvSpPr txBox="1"/>
          <p:nvPr/>
        </p:nvSpPr>
        <p:spPr>
          <a:xfrm>
            <a:off x="1549400" y="4089400"/>
            <a:ext cx="914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Empreender e gerir são coisas diferentes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E gerir se aprende — com método, não com tentativa e erro.</a:t>
            </a:r>
            <a:endParaRPr lang="en-US" sz="1600" noProof="1"/>
          </a:p>
        </p:txBody>
      </p:sp>
      <p:sp>
        <p:nvSpPr>
          <p:cNvPr id="10" name="i3icon"/>
          <p:cNvSpPr/>
          <p:nvPr>
            <p:extLst>
              <p:ext uri="{F5677B7D-0D2A-4D9B-9A5C-6D8D7D0E5A5D}">
                <pptd:icon encoding="base64url">eyJpY29uTmFtZSI6ImZhczpyb3V0ZSJ9</pptd:icon>
              </p:ext>
            </p:extLst>
          </p:nvPr>
        </p:nvSpPr>
        <p:spPr>
          <a:xfrm>
            <a:off x="1016000" y="527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96"/>
                </a:moveTo>
                <a:cubicBezTo>
                  <a:pt x="512" y="146"/>
                  <a:pt x="453" y="221"/>
                  <a:pt x="427" y="251"/>
                </a:cubicBezTo>
                <a:cubicBezTo>
                  <a:pt x="424" y="255"/>
                  <a:pt x="418" y="257"/>
                  <a:pt x="413" y="256"/>
                </a:cubicBezTo>
                <a:lnTo>
                  <a:pt x="320" y="256"/>
                </a:lnTo>
                <a:cubicBezTo>
                  <a:pt x="302" y="256"/>
                  <a:pt x="288" y="270"/>
                  <a:pt x="288" y="288"/>
                </a:cubicBezTo>
                <a:cubicBezTo>
                  <a:pt x="288" y="306"/>
                  <a:pt x="302" y="320"/>
                  <a:pt x="320" y="320"/>
                </a:cubicBezTo>
                <a:lnTo>
                  <a:pt x="416" y="320"/>
                </a:lnTo>
                <a:cubicBezTo>
                  <a:pt x="469" y="320"/>
                  <a:pt x="512" y="363"/>
                  <a:pt x="512" y="416"/>
                </a:cubicBezTo>
                <a:cubicBezTo>
                  <a:pt x="512" y="469"/>
                  <a:pt x="469" y="512"/>
                  <a:pt x="416" y="512"/>
                </a:cubicBezTo>
                <a:lnTo>
                  <a:pt x="140" y="512"/>
                </a:lnTo>
                <a:cubicBezTo>
                  <a:pt x="148" y="502"/>
                  <a:pt x="159" y="489"/>
                  <a:pt x="170" y="475"/>
                </a:cubicBezTo>
                <a:cubicBezTo>
                  <a:pt x="176" y="467"/>
                  <a:pt x="182" y="458"/>
                  <a:pt x="189" y="448"/>
                </a:cubicBezTo>
                <a:lnTo>
                  <a:pt x="416" y="448"/>
                </a:lnTo>
                <a:cubicBezTo>
                  <a:pt x="434" y="448"/>
                  <a:pt x="448" y="434"/>
                  <a:pt x="448" y="416"/>
                </a:cubicBezTo>
                <a:cubicBezTo>
                  <a:pt x="448" y="398"/>
                  <a:pt x="434" y="384"/>
                  <a:pt x="416" y="384"/>
                </a:cubicBezTo>
                <a:lnTo>
                  <a:pt x="320" y="384"/>
                </a:lnTo>
                <a:cubicBezTo>
                  <a:pt x="267" y="384"/>
                  <a:pt x="224" y="341"/>
                  <a:pt x="224" y="288"/>
                </a:cubicBezTo>
                <a:cubicBezTo>
                  <a:pt x="224" y="235"/>
                  <a:pt x="267" y="192"/>
                  <a:pt x="320" y="192"/>
                </a:cubicBezTo>
                <a:lnTo>
                  <a:pt x="360" y="192"/>
                </a:lnTo>
                <a:cubicBezTo>
                  <a:pt x="339" y="161"/>
                  <a:pt x="320" y="124"/>
                  <a:pt x="320" y="96"/>
                </a:cubicBezTo>
                <a:cubicBezTo>
                  <a:pt x="320" y="43"/>
                  <a:pt x="363" y="0"/>
                  <a:pt x="416" y="0"/>
                </a:cubicBezTo>
                <a:cubicBezTo>
                  <a:pt x="469" y="0"/>
                  <a:pt x="512" y="43"/>
                  <a:pt x="512" y="96"/>
                </a:cubicBezTo>
                <a:close/>
                <a:moveTo>
                  <a:pt x="416" y="128"/>
                </a:moveTo>
                <a:cubicBezTo>
                  <a:pt x="434" y="128"/>
                  <a:pt x="448" y="114"/>
                  <a:pt x="448" y="96"/>
                </a:cubicBezTo>
                <a:cubicBezTo>
                  <a:pt x="448" y="78"/>
                  <a:pt x="434" y="64"/>
                  <a:pt x="416" y="64"/>
                </a:cubicBezTo>
                <a:cubicBezTo>
                  <a:pt x="398" y="64"/>
                  <a:pt x="384" y="78"/>
                  <a:pt x="384" y="96"/>
                </a:cubicBezTo>
                <a:cubicBezTo>
                  <a:pt x="384" y="114"/>
                  <a:pt x="398" y="128"/>
                  <a:pt x="416" y="128"/>
                </a:cubicBezTo>
                <a:close/>
              </a:path>
              <a:path w="512" h="512">
                <a:moveTo>
                  <a:pt x="117" y="489"/>
                </a:moveTo>
                <a:cubicBezTo>
                  <a:pt x="113" y="493"/>
                  <a:pt x="110" y="497"/>
                  <a:pt x="107" y="500"/>
                </a:cubicBezTo>
                <a:lnTo>
                  <a:pt x="105" y="502"/>
                </a:lnTo>
                <a:lnTo>
                  <a:pt x="105" y="502"/>
                </a:lnTo>
                <a:cubicBezTo>
                  <a:pt x="99" y="507"/>
                  <a:pt x="90" y="506"/>
                  <a:pt x="85" y="500"/>
                </a:cubicBezTo>
                <a:cubicBezTo>
                  <a:pt x="60" y="473"/>
                  <a:pt x="0" y="403"/>
                  <a:pt x="0" y="352"/>
                </a:cubicBezTo>
                <a:cubicBezTo>
                  <a:pt x="0" y="299"/>
                  <a:pt x="43" y="256"/>
                  <a:pt x="96" y="256"/>
                </a:cubicBezTo>
                <a:cubicBezTo>
                  <a:pt x="149" y="256"/>
                  <a:pt x="192" y="299"/>
                  <a:pt x="192" y="352"/>
                </a:cubicBezTo>
                <a:cubicBezTo>
                  <a:pt x="192" y="382"/>
                  <a:pt x="171" y="419"/>
                  <a:pt x="149" y="450"/>
                </a:cubicBezTo>
                <a:cubicBezTo>
                  <a:pt x="138" y="465"/>
                  <a:pt x="127" y="478"/>
                  <a:pt x="118" y="488"/>
                </a:cubicBezTo>
                <a:lnTo>
                  <a:pt x="117" y="489"/>
                </a:lnTo>
                <a:close/>
                <a:moveTo>
                  <a:pt x="128" y="352"/>
                </a:moveTo>
                <a:cubicBezTo>
                  <a:pt x="128" y="334"/>
                  <a:pt x="114" y="320"/>
                  <a:pt x="96" y="320"/>
                </a:cubicBezTo>
                <a:cubicBezTo>
                  <a:pt x="78" y="320"/>
                  <a:pt x="64" y="334"/>
                  <a:pt x="64" y="352"/>
                </a:cubicBezTo>
                <a:cubicBezTo>
                  <a:pt x="64" y="370"/>
                  <a:pt x="78" y="384"/>
                  <a:pt x="96" y="384"/>
                </a:cubicBezTo>
                <a:cubicBezTo>
                  <a:pt x="114" y="384"/>
                  <a:pt x="128" y="370"/>
                  <a:pt x="128" y="352"/>
                </a:cubicBezTo>
                <a:close/>
              </a:path>
            </a:pathLst>
          </a:custGeom>
          <a:solidFill>
            <a:srgbClr val="86CB92"/>
          </a:solidFill>
          <a:ln>
            <a:noFill/>
          </a:ln>
        </p:spPr>
      </p:sp>
      <p:sp>
        <p:nvSpPr>
          <p:cNvPr id="11" name="i3"/>
          <p:cNvSpPr txBox="1"/>
          <p:nvPr/>
        </p:nvSpPr>
        <p:spPr>
          <a:xfrm>
            <a:off x="1549400" y="52324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UNIQ — Trilhas de aprendizagem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Desenvolvimento contínuo, passo a passo.</a:t>
            </a:r>
            <a:endParaRPr lang="en-US" sz="1600" noProof="1"/>
          </a:p>
        </p:txBody>
      </p:sp>
      <p:pic>
        <p:nvPicPr>
          <p:cNvPr id="12" name="i4icon"/>
          <p:cNvPicPr/>
          <p:nvPr/>
        </p:nvPicPr>
        <p:blipFill>
          <a:blip r:embed="rId2"/>
          <a:srcRect l="20000" t="5000" r="20000" b="55000"/>
          <a:stretch>
            <a:fillRect/>
          </a:stretch>
        </p:blipFill>
        <p:spPr>
          <a:xfrm>
            <a:off x="6070600" y="5143500"/>
            <a:ext cx="635000" cy="635000"/>
          </a:xfrm>
          <a:prstGeom prst="ellipse">
            <a:avLst/>
          </a:prstGeom>
          <a:ln>
            <a:noFill/>
          </a:ln>
        </p:spPr>
      </p:pic>
      <p:sp>
        <p:nvSpPr>
          <p:cNvPr id="13" name="i4icon-border"/>
          <p:cNvSpPr/>
          <p:nvPr/>
        </p:nvSpPr>
        <p:spPr>
          <a:xfrm>
            <a:off x="6070600" y="5143500"/>
            <a:ext cx="635000" cy="635000"/>
          </a:xfrm>
          <a:prstGeom prst="ellipse">
            <a:avLst/>
          </a:prstGeom>
          <a:noFill/>
          <a:ln w="25400">
            <a:solidFill>
              <a:srgbClr val="86CB92"/>
            </a:solidFill>
          </a:ln>
        </p:spPr>
      </p:sp>
      <p:sp>
        <p:nvSpPr>
          <p:cNvPr id="14" name="i4"/>
          <p:cNvSpPr txBox="1"/>
          <p:nvPr/>
        </p:nvSpPr>
        <p:spPr>
          <a:xfrm>
            <a:off x="6883400" y="5232400"/>
            <a:ext cx="431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 b="1">
                <a:solidFill>
                  <a:srgbClr val="1A1A1A"/>
                </a:solidFill>
                <a:latin typeface="Poppins"/>
                <a:ea typeface="Poppins"/>
              </a:rPr>
              <a:t>Melissa — Guia diário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Acompanhamento por todo o processo, todos os dias.</a:t>
            </a:r>
            <a:endParaRPr lang="en-US" sz="16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lissa"/>
          <p:cNvPicPr/>
          <p:nvPr/>
        </p:nvPicPr>
        <p:blipFill>
          <a:blip r:embed="rId2"/>
          <a:srcRect l="15000" r="15000"/>
          <a:stretch>
            <a:fillRect/>
          </a:stretch>
        </p:blipFill>
        <p:spPr>
          <a:xfrm>
            <a:off x="7620000" y="762000"/>
            <a:ext cx="3810000" cy="5334000"/>
          </a:xfrm>
          <a:prstGeom prst="rect">
            <a:avLst/>
          </a:prstGeom>
          <a:ln>
            <a:noFill/>
          </a:ln>
        </p:spPr>
      </p:pic>
      <p:sp>
        <p:nvSpPr>
          <p:cNvPr id="3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86CB92"/>
                </a:solidFill>
                <a:latin typeface="Poppins"/>
                <a:ea typeface="Poppins"/>
              </a:rPr>
              <a:t>O DIFERENCIAL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965200" y="1168400"/>
            <a:ext cx="635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3600" noProof="1" b="1">
                <a:solidFill>
                  <a:srgbClr val="EFEFEF"/>
                </a:solidFill>
                <a:latin typeface="Poppins"/>
                <a:ea typeface="Poppins"/>
              </a:rPr>
              <a:t>Melissa, sua consultora todos os dias</a:t>
            </a:r>
            <a:endParaRPr lang="en-US" sz="3600" noProof="1"/>
          </a:p>
        </p:txBody>
      </p:sp>
      <p:sp>
        <p:nvSpPr>
          <p:cNvPr id="5" name="body"/>
          <p:cNvSpPr txBox="1"/>
          <p:nvPr/>
        </p:nvSpPr>
        <p:spPr>
          <a:xfrm>
            <a:off x="1016000" y="2667000"/>
            <a:ext cx="6096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Consultoria tradicional é uma reunião por mês e um relatório. A UNIQ é diferente.</a:t>
            </a:r>
            <a:endParaRPr lang="en-US" sz="1600" noProof="1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A Melissa acompanha o seu negócio </a:t>
            </a:r>
            <a:r>
              <a:rPr lang="en-US" sz="1600" noProof="1" b="1">
                <a:solidFill>
                  <a:srgbClr val="EFEFEF"/>
                </a:solidFill>
                <a:latin typeface="Poppins"/>
                <a:ea typeface="Poppins"/>
              </a:rPr>
              <a:t>diariamente</a:t>
            </a: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: atende, orienta, organiza o funil e guia cada etapa do processo.</a:t>
            </a:r>
            <a:endParaRPr lang="en-US" sz="1600" noProof="1"/>
          </a:p>
        </p:txBody>
      </p:sp>
      <p:sp>
        <p:nvSpPr>
          <p:cNvPr id="6" name="punch"/>
          <p:cNvSpPr txBox="1"/>
          <p:nvPr/>
        </p:nvSpPr>
        <p:spPr>
          <a:xfrm>
            <a:off x="1016000" y="5080000"/>
            <a:ext cx="609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2000" noProof="1" b="1">
                <a:solidFill>
                  <a:srgbClr val="86CB92"/>
                </a:solidFill>
                <a:latin typeface="Poppins"/>
                <a:ea typeface="Poppins"/>
              </a:rPr>
              <a:t>O conhecimento de uma consultoria,</a:t>
            </a:r>
            <a:endParaRPr lang="en-US" sz="2000" noProof="1"/>
          </a:p>
          <a:p>
            <a:pPr>
              <a:lnSpc>
                <a:spcPct val="140000"/>
              </a:lnSpc>
            </a:pPr>
            <a:r>
              <a:rPr lang="en-US" sz="2000" noProof="1" b="1">
                <a:solidFill>
                  <a:srgbClr val="86CB92"/>
                </a:solidFill>
                <a:latin typeface="Poppins"/>
                <a:ea typeface="Poppins"/>
              </a:rPr>
              <a:t>com a presença de um sócio.</a:t>
            </a:r>
            <a:endParaRPr lang="en-US" sz="2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COMO TRABALHAMOS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1684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Um método, não promessas</a:t>
            </a:r>
            <a:endParaRPr lang="en-US" sz="3800" noProof="1"/>
          </a:p>
        </p:txBody>
      </p:sp>
      <p:sp>
        <p:nvSpPr>
          <p:cNvPr id="4" name="step1n"/>
          <p:cNvSpPr txBox="1"/>
          <p:nvPr/>
        </p:nvSpPr>
        <p:spPr>
          <a:xfrm>
            <a:off x="1016000" y="23495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6CB92"/>
                </a:solidFill>
                <a:latin typeface="Poppins"/>
                <a:ea typeface="Poppins"/>
              </a:rPr>
              <a:t>1</a:t>
            </a:r>
            <a:endParaRPr lang="en-US" sz="3600" noProof="1"/>
          </a:p>
        </p:txBody>
      </p:sp>
      <p:sp>
        <p:nvSpPr>
          <p:cNvPr id="5" name="step1"/>
          <p:cNvSpPr txBox="1"/>
          <p:nvPr/>
        </p:nvSpPr>
        <p:spPr>
          <a:xfrm>
            <a:off x="1016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A1A1A"/>
                </a:solidFill>
                <a:latin typeface="Poppins"/>
                <a:ea typeface="Poppins"/>
              </a:rPr>
              <a:t>Diagnóstico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Análise profunda da operação, do mercado e dos números da empresa.</a:t>
            </a:r>
            <a:endParaRPr lang="en-US" sz="1500" noProof="1"/>
          </a:p>
        </p:txBody>
      </p:sp>
      <p:sp>
        <p:nvSpPr>
          <p:cNvPr id="6" name="arrow1"/>
          <p:cNvSpPr/>
          <p:nvPr>
            <p:extLst>
              <p:ext uri="{F5677B7D-0D2A-4D9B-9A5C-6D8D7D0E5A5D}">
                <pptd:line encoding="base64url">eyJ2aWV3Qm94IjpbNjAsMjBdLCJwb2ludHMiOiIwLDEwIDYwLDEwIn0</pptd:line>
              </p:ext>
            </p:extLst>
          </p:nvPr>
        </p:nvSpPr>
        <p:spPr>
          <a:xfrm>
            <a:off x="4318000" y="2540000"/>
            <a:ext cx="762000" cy="254000"/>
          </a:xfrm>
          <a:custGeom>
            <a:avLst/>
            <a:gdLst/>
            <a:ahLst/>
            <a:cxnLst/>
            <a:rect l="l" t="t" r="r" b="b"/>
            <a:pathLst>
              <a:path w="60" h="20">
                <a:moveTo>
                  <a:pt x="0" y="10"/>
                </a:moveTo>
                <a:lnTo>
                  <a:pt x="60" y="10"/>
                </a:lnTo>
              </a:path>
            </a:pathLst>
          </a:custGeom>
          <a:noFill/>
          <a:ln w="25400" cap="rnd">
            <a:solidFill>
              <a:srgbClr val="3E5653"/>
            </a:solidFill>
            <a:round/>
          </a:ln>
        </p:spPr>
      </p:sp>
      <p:sp>
        <p:nvSpPr>
          <p:cNvPr id="7" name="step2n"/>
          <p:cNvSpPr txBox="1"/>
          <p:nvPr/>
        </p:nvSpPr>
        <p:spPr>
          <a:xfrm>
            <a:off x="5207000" y="23495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6CB92"/>
                </a:solidFill>
                <a:latin typeface="Poppins"/>
                <a:ea typeface="Poppins"/>
              </a:rPr>
              <a:t>2</a:t>
            </a:r>
            <a:endParaRPr lang="en-US" sz="3600" noProof="1"/>
          </a:p>
        </p:txBody>
      </p:sp>
      <p:sp>
        <p:nvSpPr>
          <p:cNvPr id="8" name="step2"/>
          <p:cNvSpPr txBox="1"/>
          <p:nvPr/>
        </p:nvSpPr>
        <p:spPr>
          <a:xfrm>
            <a:off x="5207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A1A1A"/>
                </a:solidFill>
                <a:latin typeface="Poppins"/>
                <a:ea typeface="Poppins"/>
              </a:rPr>
              <a:t>Plano de ação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Metas claras de faturamento e margem, com ferramentas definidas.</a:t>
            </a:r>
            <a:endParaRPr lang="en-US" sz="1500" noProof="1"/>
          </a:p>
        </p:txBody>
      </p:sp>
      <p:sp>
        <p:nvSpPr>
          <p:cNvPr id="9" name="arrow2"/>
          <p:cNvSpPr/>
          <p:nvPr>
            <p:extLst>
              <p:ext uri="{F5677B7D-0D2A-4D9B-9A5C-6D8D7D0E5A5D}">
                <pptd:line encoding="base64url">eyJ2aWV3Qm94IjpbNjAsMjBdLCJwb2ludHMiOiIwLDEwIDYwLDEwIn0</pptd:line>
              </p:ext>
            </p:extLst>
          </p:nvPr>
        </p:nvSpPr>
        <p:spPr>
          <a:xfrm>
            <a:off x="8509000" y="2540000"/>
            <a:ext cx="762000" cy="254000"/>
          </a:xfrm>
          <a:custGeom>
            <a:avLst/>
            <a:gdLst/>
            <a:ahLst/>
            <a:cxnLst/>
            <a:rect l="l" t="t" r="r" b="b"/>
            <a:pathLst>
              <a:path w="60" h="20">
                <a:moveTo>
                  <a:pt x="0" y="10"/>
                </a:moveTo>
                <a:lnTo>
                  <a:pt x="60" y="10"/>
                </a:lnTo>
              </a:path>
            </a:pathLst>
          </a:custGeom>
          <a:noFill/>
          <a:ln w="25400" cap="rnd">
            <a:solidFill>
              <a:srgbClr val="3E5653"/>
            </a:solidFill>
            <a:round/>
          </a:ln>
        </p:spPr>
      </p:sp>
      <p:sp>
        <p:nvSpPr>
          <p:cNvPr id="10" name="step3n"/>
          <p:cNvSpPr txBox="1"/>
          <p:nvPr/>
        </p:nvSpPr>
        <p:spPr>
          <a:xfrm>
            <a:off x="9398000" y="23495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6CB92"/>
                </a:solidFill>
                <a:latin typeface="Poppins"/>
                <a:ea typeface="Poppins"/>
              </a:rPr>
              <a:t>3</a:t>
            </a:r>
            <a:endParaRPr lang="en-US" sz="3600" noProof="1"/>
          </a:p>
        </p:txBody>
      </p:sp>
      <p:sp>
        <p:nvSpPr>
          <p:cNvPr id="11" name="step3"/>
          <p:cNvSpPr txBox="1"/>
          <p:nvPr/>
        </p:nvSpPr>
        <p:spPr>
          <a:xfrm>
            <a:off x="9398000" y="3048000"/>
            <a:ext cx="2286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A1A1A"/>
                </a:solidFill>
                <a:latin typeface="Poppins"/>
                <a:ea typeface="Poppins"/>
              </a:rPr>
              <a:t>Execução acompanhada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Melissa no dia a dia, UNIQ ao lado — até o resultado aparecer.</a:t>
            </a:r>
            <a:endParaRPr lang="en-US" sz="1500" noProof="1"/>
          </a:p>
        </p:txBody>
      </p:sp>
      <p:sp>
        <p:nvSpPr>
          <p:cNvPr id="12" name="strip"/>
          <p:cNvSpPr/>
          <p:nvPr/>
        </p:nvSpPr>
        <p:spPr>
          <a:xfrm>
            <a:off x="0" y="5080000"/>
            <a:ext cx="12192000" cy="1778000"/>
          </a:xfrm>
          <a:prstGeom prst="rect">
            <a:avLst/>
          </a:prstGeom>
          <a:solidFill>
            <a:srgbClr val="3E5653"/>
          </a:solidFill>
          <a:ln>
            <a:noFill/>
          </a:ln>
        </p:spPr>
      </p:sp>
      <p:sp>
        <p:nvSpPr>
          <p:cNvPr id="13" name="strip-text"/>
          <p:cNvSpPr txBox="1"/>
          <p:nvPr/>
        </p:nvSpPr>
        <p:spPr>
          <a:xfrm>
            <a:off x="1016000" y="53975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800" noProof="1" b="1">
                <a:solidFill>
                  <a:srgbClr val="EFEFEF"/>
                </a:solidFill>
                <a:latin typeface="Poppins"/>
                <a:ea typeface="Poppins"/>
              </a:rPr>
              <a:t>O que você recebe nos primeiros 90 dias:</a:t>
            </a:r>
            <a:r>
              <a:rPr lang="en-US" sz="1800" noProof="1">
                <a:solidFill>
                  <a:srgbClr val="EFEFEF"/>
                </a:solidFill>
                <a:latin typeface="Poppins"/>
                <a:ea typeface="Poppins"/>
              </a:rPr>
              <a:t> diagnóstico completo da operação, funil de vendas estruturado, visão clara de margens e um plano de crescimento com metas.</a:t>
            </a:r>
            <a:endParaRPr lang="en-US" sz="1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62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627271"/>
                </a:solidFill>
                <a:latin typeface="Poppins"/>
                <a:ea typeface="Poppins"/>
              </a:rPr>
              <a:t>FASE ALPHA · APENAS 4 EMPRESAS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1684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3E5653"/>
                </a:solidFill>
                <a:latin typeface="Poppins"/>
                <a:ea typeface="Poppins"/>
              </a:rPr>
              <a:t>Por que entrar agora</a:t>
            </a:r>
            <a:endParaRPr lang="en-US" sz="3800" noProof="1"/>
          </a:p>
        </p:txBody>
      </p:sp>
      <p:sp>
        <p:nvSpPr>
          <p:cNvPr id="4" name="r1"/>
          <p:cNvSpPr txBox="1"/>
          <p:nvPr/>
        </p:nvSpPr>
        <p:spPr>
          <a:xfrm>
            <a:off x="1016000" y="2413000"/>
            <a:ext cx="3302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3000" noProof="1">
                <a:solidFill>
                  <a:srgbClr val="86CB92"/>
                </a:solidFill>
                <a:latin typeface="Poppins"/>
                <a:ea typeface="Poppins"/>
              </a:rPr>
              <a:t>Preço de fundador</a:t>
            </a:r>
            <a:endParaRPr lang="en-US" sz="16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R$ 500 de setup e R$ 197/mês — condição que </a:t>
            </a:r>
            <a:r>
              <a:rPr lang="en-US" sz="1400" noProof="1" b="1">
                <a:solidFill>
                  <a:srgbClr val="627271"/>
                </a:solidFill>
                <a:latin typeface="Poppins"/>
                <a:ea typeface="Poppins"/>
              </a:rPr>
              <a:t>nunca mais</a:t>
            </a: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 vai existir. Depois da Alpha, o valor sobe para R$ 1.500 + R$ 297/mês.</a:t>
            </a:r>
            <a:endParaRPr lang="en-US" sz="1600" noProof="1"/>
          </a:p>
        </p:txBody>
      </p:sp>
      <p:sp>
        <p:nvSpPr>
          <p:cNvPr id="5" name="sep1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4572000" y="2540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6" name="r2"/>
          <p:cNvSpPr txBox="1"/>
          <p:nvPr/>
        </p:nvSpPr>
        <p:spPr>
          <a:xfrm>
            <a:off x="4953000" y="2413000"/>
            <a:ext cx="3302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3000" noProof="1">
                <a:solidFill>
                  <a:srgbClr val="86CB92"/>
                </a:solidFill>
                <a:latin typeface="Poppins"/>
                <a:ea typeface="Poppins"/>
              </a:rPr>
              <a:t>Atenção máxima</a:t>
            </a:r>
            <a:endParaRPr lang="en-US" sz="16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São apenas 4 empresas. Dedicação quase individual — algo que uma consultoria com dezenas de clientes não consegue oferecer.</a:t>
            </a:r>
            <a:endParaRPr lang="en-US" sz="1600" noProof="1"/>
          </a:p>
        </p:txBody>
      </p:sp>
      <p:sp>
        <p:nvSpPr>
          <p:cNvPr id="7" name="sep2"/>
          <p:cNvSpPr/>
          <p:nvPr>
            <p:extLst>
              <p:ext uri="{F5677B7D-0D2A-4D9B-9A5C-6D8D7D0E5A5D}">
                <pptd:line encoding="base64url">eyJ2aWV3Qm94IjpbMSwxODBdLCJwb2ludHMiOiIwLDAgMCwxODAifQ</pptd:line>
              </p:ext>
            </p:extLst>
          </p:nvPr>
        </p:nvSpPr>
        <p:spPr>
          <a:xfrm>
            <a:off x="8509000" y="2540000"/>
            <a:ext cx="12700" cy="2286000"/>
          </a:xfrm>
          <a:custGeom>
            <a:avLst/>
            <a:gdLst/>
            <a:ahLst/>
            <a:cxnLst/>
            <a:rect l="l" t="t" r="r" b="b"/>
            <a:pathLst>
              <a:path w="1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2700" cap="rnd">
            <a:solidFill>
              <a:srgbClr val="3E5653">
                <a:alpha val="20000"/>
              </a:srgbClr>
            </a:solidFill>
            <a:round/>
          </a:ln>
        </p:spPr>
      </p:sp>
      <p:sp>
        <p:nvSpPr>
          <p:cNvPr id="8" name="r3"/>
          <p:cNvSpPr txBox="1"/>
          <p:nvPr/>
        </p:nvSpPr>
        <p:spPr>
          <a:xfrm>
            <a:off x="8890000" y="2413000"/>
            <a:ext cx="279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3000" noProof="1">
                <a:solidFill>
                  <a:srgbClr val="86CB92"/>
                </a:solidFill>
                <a:latin typeface="Poppins"/>
                <a:ea typeface="Poppins"/>
              </a:rPr>
              <a:t>Co-construção</a:t>
            </a:r>
            <a:endParaRPr lang="en-US" sz="16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Você participa da construção do método — e colhe os resultados primeiro.</a:t>
            </a:r>
            <a:endParaRPr lang="en-US" sz="1600" noProof="1"/>
          </a:p>
        </p:txBody>
      </p:sp>
      <p:sp>
        <p:nvSpPr>
          <p:cNvPr id="9" name="roadmap"/>
          <p:cNvSpPr txBox="1"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 b="1">
                <a:solidFill>
                  <a:srgbClr val="3E5653"/>
                </a:solidFill>
                <a:latin typeface="Poppins"/>
                <a:ea typeface="Poppins"/>
              </a:rPr>
              <a:t>O caminho:</a:t>
            </a: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 Fase Alpha (4 empresas) → Fase Beta (+4) → Fase Prod (+4) → lançamento oficial em 07/2027.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627271"/>
                </a:solidFill>
                <a:latin typeface="Poppins"/>
                <a:ea typeface="Poppins"/>
              </a:rPr>
              <a:t>Cada fase fortalece a base da próxima — e a sua empresa entra na frente.</a:t>
            </a:r>
            <a:endParaRPr lang="en-US" sz="14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86CB92"/>
                </a:solidFill>
                <a:latin typeface="Poppins"/>
                <a:ea typeface="Poppins"/>
              </a:rPr>
              <a:t>INVESTIMENTO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65200" y="10922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FEFEF"/>
                </a:solidFill>
                <a:latin typeface="Poppins"/>
                <a:ea typeface="Poppins"/>
              </a:rPr>
              <a:t>Menos que um dia de faturamento parado</a:t>
            </a:r>
            <a:endParaRPr lang="en-US" sz="3400" noProof="1"/>
          </a:p>
        </p:txBody>
      </p:sp>
      <p:sp>
        <p:nvSpPr>
          <p:cNvPr id="4" name="lead"/>
          <p:cNvSpPr txBox="1"/>
          <p:nvPr/>
        </p:nvSpPr>
        <p:spPr>
          <a:xfrm>
            <a:off x="1016000" y="1930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Uma venda a mais por mês já paga a consultoria. O resto é lucro.</a:t>
            </a:r>
            <a:endParaRPr lang="en-US" sz="1600" noProof="1"/>
          </a:p>
        </p:txBody>
      </p:sp>
      <p:sp>
        <p:nvSpPr>
          <p:cNvPr id="5" name="price1label"/>
          <p:cNvSpPr txBox="1"/>
          <p:nvPr/>
        </p:nvSpPr>
        <p:spPr>
          <a:xfrm>
            <a:off x="1016000" y="28575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AEB6B4"/>
                </a:solidFill>
                <a:latin typeface="Poppins"/>
                <a:ea typeface="Poppins"/>
              </a:rPr>
              <a:t>VALOR CHEIO (APÓS A ALPHA)</a:t>
            </a:r>
            <a:endParaRPr lang="en-US" sz="1400" noProof="1"/>
          </a:p>
        </p:txBody>
      </p:sp>
      <p:sp>
        <p:nvSpPr>
          <p:cNvPr id="6" name="price1"/>
          <p:cNvSpPr txBox="1"/>
          <p:nvPr/>
        </p:nvSpPr>
        <p:spPr>
          <a:xfrm>
            <a:off x="965200" y="32131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3800" noProof="1" b="1">
                <a:solidFill>
                  <a:srgbClr val="AEB6B4"/>
                </a:solidFill>
                <a:latin typeface="Poppins"/>
                <a:ea typeface="Poppins"/>
              </a:rPr>
              <a:t>R$ 1.500 </a:t>
            </a:r>
            <a:r>
              <a:rPr lang="en-US" sz="1700" noProof="1" b="1">
                <a:solidFill>
                  <a:srgbClr val="AEB6B4"/>
                </a:solidFill>
                <a:latin typeface="Poppins"/>
                <a:ea typeface="Poppins"/>
              </a:rPr>
              <a:t>setup</a:t>
            </a:r>
            <a:endParaRPr lang="en-US" sz="3800" noProof="1"/>
          </a:p>
          <a:p>
            <a:pPr>
              <a:lnSpc>
                <a:spcPct val="140000"/>
              </a:lnSpc>
            </a:pPr>
            <a:r>
              <a:rPr lang="en-US" sz="3800" noProof="1" b="1">
                <a:solidFill>
                  <a:srgbClr val="AEB6B4"/>
                </a:solidFill>
                <a:latin typeface="Poppins"/>
                <a:ea typeface="Poppins"/>
              </a:rPr>
              <a:t>R$ 297</a:t>
            </a:r>
            <a:r>
              <a:rPr lang="en-US" sz="1700" noProof="1" b="1">
                <a:solidFill>
                  <a:srgbClr val="AEB6B4"/>
                </a:solidFill>
                <a:latin typeface="Poppins"/>
                <a:ea typeface="Poppins"/>
              </a:rPr>
              <a:t>/mês</a:t>
            </a:r>
            <a:endParaRPr lang="en-US" sz="3800" noProof="1"/>
          </a:p>
        </p:txBody>
      </p:sp>
      <p:sp>
        <p:nvSpPr>
          <p:cNvPr id="7" name="divider"/>
          <p:cNvSpPr/>
          <p:nvPr>
            <p:extLst>
              <p:ext uri="{F5677B7D-0D2A-4D9B-9A5C-6D8D7D0E5A5D}">
                <pptd:line encoding="base64url">eyJ2aWV3Qm94IjpbMSwxNjBdLCJwb2ludHMiOiIwLDAgMCwxNjAifQ</pptd:line>
              </p:ext>
            </p:extLst>
          </p:nvPr>
        </p:nvSpPr>
        <p:spPr>
          <a:xfrm>
            <a:off x="6350000" y="2857500"/>
            <a:ext cx="12700" cy="2032000"/>
          </a:xfrm>
          <a:custGeom>
            <a:avLst/>
            <a:gdLst/>
            <a:ahLst/>
            <a:cxnLst/>
            <a:rect l="l" t="t" r="r" b="b"/>
            <a:pathLst>
              <a:path w="1" h="160">
                <a:moveTo>
                  <a:pt x="0" y="0"/>
                </a:moveTo>
                <a:lnTo>
                  <a:pt x="0" y="160"/>
                </a:lnTo>
              </a:path>
            </a:pathLst>
          </a:custGeom>
          <a:noFill/>
          <a:ln w="12700" cap="rnd">
            <a:solidFill>
              <a:srgbClr val="EFEFEF">
                <a:alpha val="20000"/>
              </a:srgbClr>
            </a:solidFill>
            <a:round/>
          </a:ln>
        </p:spPr>
      </p:sp>
      <p:sp>
        <p:nvSpPr>
          <p:cNvPr id="8" name="price2label"/>
          <p:cNvSpPr txBox="1"/>
          <p:nvPr/>
        </p:nvSpPr>
        <p:spPr>
          <a:xfrm>
            <a:off x="6858000" y="28575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86CB92"/>
                </a:solidFill>
                <a:latin typeface="Poppins"/>
                <a:ea typeface="Poppins"/>
              </a:rPr>
              <a:t>FASE ALPHA · 4 VAGAS</a:t>
            </a:r>
            <a:endParaRPr lang="en-US" sz="1400" noProof="1"/>
          </a:p>
        </p:txBody>
      </p:sp>
      <p:sp>
        <p:nvSpPr>
          <p:cNvPr id="9" name="price2"/>
          <p:cNvSpPr txBox="1"/>
          <p:nvPr/>
        </p:nvSpPr>
        <p:spPr>
          <a:xfrm>
            <a:off x="6807200" y="32131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3800" noProof="1" b="1">
                <a:solidFill>
                  <a:srgbClr val="86CB92"/>
                </a:solidFill>
                <a:latin typeface="Poppins"/>
                <a:ea typeface="Poppins"/>
              </a:rPr>
              <a:t>R$ 500 </a:t>
            </a:r>
            <a:r>
              <a:rPr lang="en-US" sz="1700" noProof="1" b="1">
                <a:solidFill>
                  <a:srgbClr val="86CB92"/>
                </a:solidFill>
                <a:latin typeface="Poppins"/>
                <a:ea typeface="Poppins"/>
              </a:rPr>
              <a:t>setup</a:t>
            </a:r>
            <a:endParaRPr lang="en-US" sz="3800" noProof="1"/>
          </a:p>
          <a:p>
            <a:pPr>
              <a:lnSpc>
                <a:spcPct val="140000"/>
              </a:lnSpc>
            </a:pPr>
            <a:r>
              <a:rPr lang="en-US" sz="3800" noProof="1" b="1">
                <a:solidFill>
                  <a:srgbClr val="86CB92"/>
                </a:solidFill>
                <a:latin typeface="Poppins"/>
                <a:ea typeface="Poppins"/>
              </a:rPr>
              <a:t>R$ 197</a:t>
            </a:r>
            <a:r>
              <a:rPr lang="en-US" sz="1700" noProof="1" b="1">
                <a:solidFill>
                  <a:srgbClr val="86CB92"/>
                </a:solidFill>
                <a:latin typeface="Poppins"/>
                <a:ea typeface="Poppins"/>
              </a:rPr>
              <a:t>/mês</a:t>
            </a:r>
            <a:endParaRPr lang="en-US" sz="3800" noProof="1"/>
          </a:p>
        </p:txBody>
      </p:sp>
      <p:sp>
        <p:nvSpPr>
          <p:cNvPr id="10" name="guarantee"/>
          <p:cNvSpPr txBox="1"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86CB92"/>
                </a:solidFill>
                <a:latin typeface="Poppins"/>
                <a:ea typeface="Poppins"/>
              </a:rPr>
              <a:t>✓</a:t>
            </a:r>
            <a:r>
              <a:rPr lang="en-US" sz="1500" noProof="1">
                <a:solidFill>
                  <a:srgbClr val="AEB6B4"/>
                </a:solidFill>
                <a:latin typeface="Poppins"/>
                <a:ea typeface="Poppins"/>
              </a:rPr>
              <a:t> Pagamento na inicialização  </a:t>
            </a:r>
            <a:r>
              <a:rPr lang="en-US" sz="1500" noProof="1">
                <a:solidFill>
                  <a:srgbClr val="86CB92"/>
                </a:solidFill>
                <a:latin typeface="Poppins"/>
                <a:ea typeface="Poppins"/>
              </a:rPr>
              <a:t>✓</a:t>
            </a:r>
            <a:r>
              <a:rPr lang="en-US" sz="1500" noProof="1">
                <a:solidFill>
                  <a:srgbClr val="AEB6B4"/>
                </a:solidFill>
                <a:latin typeface="Poppins"/>
                <a:ea typeface="Poppins"/>
              </a:rPr>
              <a:t> Sem fidelidade: se não enxergar valor, você sai quando quiser</a:t>
            </a:r>
            <a:endParaRPr lang="en-US" sz="1500" noProof="1"/>
          </a:p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86CB92"/>
                </a:solidFill>
                <a:latin typeface="Poppins"/>
                <a:ea typeface="Poppins"/>
              </a:rPr>
              <a:t>✓</a:t>
            </a:r>
            <a:r>
              <a:rPr lang="en-US" sz="1500" noProof="1">
                <a:solidFill>
                  <a:srgbClr val="AEB6B4"/>
                </a:solidFill>
                <a:latin typeface="Poppins"/>
                <a:ea typeface="Poppins"/>
              </a:rPr>
              <a:t> Quando as 4 vagas acabarem, vale o valor cheio</a:t>
            </a:r>
            <a:endParaRPr lang="en-US" sz="15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ring"/>
          <p:cNvSpPr/>
          <p:nvPr/>
        </p:nvSpPr>
        <p:spPr>
          <a:xfrm>
            <a:off x="-1270000" y="3810000"/>
            <a:ext cx="4064000" cy="4064000"/>
          </a:xfrm>
          <a:prstGeom prst="donut">
            <a:avLst>
              <a:gd name="adj" fmla="val 8000"/>
            </a:avLst>
          </a:prstGeom>
          <a:solidFill>
            <a:srgbClr val="86CB92">
              <a:alpha val="18039"/>
            </a:srgbClr>
          </a:solidFill>
          <a:ln>
            <a:noFill/>
          </a:ln>
        </p:spPr>
      </p:sp>
      <p:pic>
        <p:nvPicPr>
          <p:cNvPr id="3" name="logo"/>
          <p:cNvPicPr/>
          <p:nvPr/>
        </p:nvPicPr>
        <p:blipFill>
          <a:blip r:embed="rId2"/>
          <a:srcRect l="-281" r="-281"/>
          <a:stretch>
            <a:fillRect/>
          </a:stretch>
        </p:blipFill>
        <p:spPr>
          <a:xfrm>
            <a:off x="1016000" y="762000"/>
            <a:ext cx="2794000" cy="1003300"/>
          </a:xfrm>
          <a:prstGeom prst="rect">
            <a:avLst/>
          </a:prstGeom>
          <a:ln>
            <a:noFill/>
          </a:ln>
        </p:spPr>
      </p:pic>
      <p:sp>
        <p:nvSpPr>
          <p:cNvPr id="4" name="big"/>
          <p:cNvSpPr txBox="1"/>
          <p:nvPr/>
        </p:nvSpPr>
        <p:spPr>
          <a:xfrm>
            <a:off x="1016000" y="2349500"/>
            <a:ext cx="1016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4200" noProof="1" b="1">
                <a:solidFill>
                  <a:srgbClr val="EFEFEF"/>
                </a:solidFill>
                <a:latin typeface="Poppins"/>
                <a:ea typeface="Poppins"/>
              </a:rPr>
              <a:t>Vamos tirar a sua empresa</a:t>
            </a:r>
            <a:endParaRPr lang="en-US" sz="4200" noProof="1"/>
          </a:p>
          <a:p>
            <a:pPr>
              <a:lnSpc>
                <a:spcPct val="130000"/>
              </a:lnSpc>
            </a:pPr>
            <a:r>
              <a:rPr lang="en-US" sz="4200" noProof="1" b="1">
                <a:solidFill>
                  <a:srgbClr val="EFEFEF"/>
                </a:solidFill>
                <a:latin typeface="Poppins"/>
                <a:ea typeface="Poppins"/>
              </a:rPr>
              <a:t>do lugar — </a:t>
            </a:r>
            <a:r>
              <a:rPr lang="en-US" sz="4200" noProof="1" b="1">
                <a:solidFill>
                  <a:srgbClr val="86CB92"/>
                </a:solidFill>
                <a:latin typeface="Poppins"/>
                <a:ea typeface="Poppins"/>
              </a:rPr>
              <a:t>juntos</a:t>
            </a:r>
            <a:r>
              <a:rPr lang="en-US" sz="4200" noProof="1" b="1">
                <a:solidFill>
                  <a:srgbClr val="EFEFEF"/>
                </a:solidFill>
                <a:latin typeface="Poppins"/>
                <a:ea typeface="Poppins"/>
              </a:rPr>
              <a:t>.</a:t>
            </a:r>
            <a:endParaRPr lang="en-US" sz="42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eyJ2aWV3Qm94IjpbMTIwLDNdLCJwb2ludHMiOiIwLDEgMTIwLDEifQ</pptd:line>
              </p:ext>
            </p:extLst>
          </p:nvPr>
        </p:nvSpPr>
        <p:spPr>
          <a:xfrm>
            <a:off x="1016000" y="42545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20" h="3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86CB92"/>
            </a:solidFill>
            <a:round/>
          </a:ln>
        </p:spPr>
      </p:sp>
      <p:sp>
        <p:nvSpPr>
          <p:cNvPr id="6" name="sub"/>
          <p:cNvSpPr txBox="1"/>
          <p:nvPr/>
        </p:nvSpPr>
        <p:spPr>
          <a:xfrm>
            <a:off x="1016000" y="4572000"/>
            <a:ext cx="889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600" noProof="1" b="1">
                <a:solidFill>
                  <a:srgbClr val="EFEFEF"/>
                </a:solidFill>
                <a:latin typeface="Poppins"/>
                <a:ea typeface="Poppins"/>
              </a:rPr>
              <a:t>Fase Alpha: apenas 4 empresas.</a:t>
            </a: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 R$ 500 de setup + R$ 197/mês.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AEB6B4"/>
                </a:solidFill>
                <a:latin typeface="Poppins"/>
                <a:ea typeface="Poppins"/>
              </a:rPr>
              <a:t>UNIQ Empresas · Consultoria para pequenas e médias empresas · Alto Tietê</a:t>
            </a:r>
            <a:endParaRPr lang="en-US" sz="1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dc="http://purl.org/dc/elements/1.1/" xmlns:cp="http://schemas.openxmlformats.org/package/2006/metadata/core-properties">
  <dc:title>UNIQ Empresas — Consultoria para PMEs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